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01DB01-6D7E-BEB9-232F-9751376CED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821005-5FC9-E894-045C-D5A43C55C1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CB4C89-8862-27ED-4139-9FAB93B1E9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BE1FC9-A9B4-58D4-C14F-A00CCE4EAB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696DA7-6517-3376-339D-B230930EBA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FAF97E-8642-E481-9A59-E7EC3CA503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31D392-5DD5-3274-61A5-40FC24615F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A0DE3E-89C3-63EB-BE5D-829AA17F70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01EC00-D895-389F-F785-5D147E1D7A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41BDBA-319C-520B-11BF-D852905BF5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1374D9-0F07-88D5-A58C-F389961F91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BD5F44-1B8F-3E5B-3B65-4AFEF90FB2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9A1C00-E55F-F631-24D6-9196E0F9C6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36059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340936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535430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498753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44306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4633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03599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488423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2549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56617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98352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45587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75052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676337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8074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2277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946661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55171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0037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121220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98299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9225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83618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09848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92039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306143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63987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4623082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402291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4787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2723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1988636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4857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10441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1961198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528531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0705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59470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17217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03861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823692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38942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91504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295562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1225432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51286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309198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7101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33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554598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12612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3692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67964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60971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727109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3143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177591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92208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3318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15116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84798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5160515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956836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media1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media2.svg"/><Relationship Id="rId6" Type="http://schemas.openxmlformats.org/officeDocument/2006/relationships/image" Target="../media/image11.png"/><Relationship Id="rId7" Type="http://schemas.openxmlformats.org/officeDocument/2006/relationships/image" Target="../media/media3.svg"/><Relationship Id="rId8" Type="http://schemas.openxmlformats.org/officeDocument/2006/relationships/image" Target="../media/image12.png"/><Relationship Id="rId9" Type="http://schemas.openxmlformats.org/officeDocument/2006/relationships/image" Target="../media/media4.svg"/><Relationship Id="rId10" Type="http://schemas.openxmlformats.org/officeDocument/2006/relationships/image" Target="../media/image13.png"/><Relationship Id="rId11" Type="http://schemas.openxmlformats.org/officeDocument/2006/relationships/image" Target="../media/media5.svg"/><Relationship Id="rId12" Type="http://schemas.openxmlformats.org/officeDocument/2006/relationships/image" Target="../media/image14.png"/><Relationship Id="rId13" Type="http://schemas.openxmlformats.org/officeDocument/2006/relationships/image" Target="../media/media6.svg"/><Relationship Id="rId14" Type="http://schemas.openxmlformats.org/officeDocument/2006/relationships/image" Target="../media/image15.png"/><Relationship Id="rId15" Type="http://schemas.openxmlformats.org/officeDocument/2006/relationships/image" Target="../media/media7.svg"/><Relationship Id="rId16" Type="http://schemas.openxmlformats.org/officeDocument/2006/relationships/image" Target="../media/image16.png"/><Relationship Id="rId17" Type="http://schemas.openxmlformats.org/officeDocument/2006/relationships/image" Target="../media/media8.svg"/><Relationship Id="rId18" Type="http://schemas.openxmlformats.org/officeDocument/2006/relationships/image" Target="../media/image17.png"/><Relationship Id="rId19" Type="http://schemas.openxmlformats.org/officeDocument/2006/relationships/image" Target="../media/media9.svg"/><Relationship Id="rId20" Type="http://schemas.openxmlformats.org/officeDocument/2006/relationships/image" Target="../media/image18.png"/><Relationship Id="rId21" Type="http://schemas.openxmlformats.org/officeDocument/2006/relationships/image" Target="../media/media10.svg"/><Relationship Id="rId22" Type="http://schemas.openxmlformats.org/officeDocument/2006/relationships/image" Target="../media/image19.png"/><Relationship Id="rId23" Type="http://schemas.openxmlformats.org/officeDocument/2006/relationships/image" Target="../media/media11.svg"/><Relationship Id="rId24" Type="http://schemas.openxmlformats.org/officeDocument/2006/relationships/image" Target="../media/image20.png"/><Relationship Id="rId25" Type="http://schemas.openxmlformats.org/officeDocument/2006/relationships/image" Target="../media/media12.svg"/><Relationship Id="rId26" Type="http://schemas.openxmlformats.org/officeDocument/2006/relationships/image" Target="../media/image21.png"/><Relationship Id="rId27" Type="http://schemas.openxmlformats.org/officeDocument/2006/relationships/image" Target="../media/media13.svg"/><Relationship Id="rId28" Type="http://schemas.openxmlformats.org/officeDocument/2006/relationships/image" Target="../media/image22.png"/><Relationship Id="rId29" Type="http://schemas.openxmlformats.org/officeDocument/2006/relationships/image" Target="../media/image23.png"/><Relationship Id="rId30" Type="http://schemas.openxmlformats.org/officeDocument/2006/relationships/image" Target="../media/image24.png"/><Relationship Id="rId31" Type="http://schemas.openxmlformats.org/officeDocument/2006/relationships/image" Target="../media/image25.png"/><Relationship Id="rId32" Type="http://schemas.openxmlformats.org/officeDocument/2006/relationships/image" Target="../media/image26.png"/><Relationship Id="rId33" Type="http://schemas.openxmlformats.org/officeDocument/2006/relationships/image" Target="../media/image27.png"/><Relationship Id="rId34" Type="http://schemas.openxmlformats.org/officeDocument/2006/relationships/image" Target="../media/image2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media14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jp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jpg"/><Relationship Id="rId4" Type="http://schemas.openxmlformats.org/officeDocument/2006/relationships/image" Target="../media/image5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1.png"/><Relationship Id="rId4" Type="http://schemas.openxmlformats.org/officeDocument/2006/relationships/image" Target="../media/media15.svg"/><Relationship Id="rId5" Type="http://schemas.openxmlformats.org/officeDocument/2006/relationships/image" Target="../media/image62.jpg"/><Relationship Id="rId6" Type="http://schemas.openxmlformats.org/officeDocument/2006/relationships/image" Target="../media/image63.png"/><Relationship Id="rId7" Type="http://schemas.openxmlformats.org/officeDocument/2006/relationships/image" Target="../media/media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1694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53371348" name="Group 2"/>
          <p:cNvGrpSpPr/>
          <p:nvPr/>
        </p:nvGrpSpPr>
        <p:grpSpPr bwMode="auto">
          <a:xfrm rot="-2700000">
            <a:off x="10547277" y="-6906661"/>
            <a:ext cx="9636130" cy="21169105"/>
            <a:chOff x="0" y="0"/>
            <a:chExt cx="2537911" cy="5575402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537911" cy="5575402"/>
            </a:xfrm>
            <a:custGeom>
              <a:avLst/>
              <a:gdLst/>
              <a:ahLst/>
              <a:cxnLst/>
              <a:rect l="l" t="t" r="r" b="b"/>
              <a:pathLst>
                <a:path w="2537911" h="5575402" fill="norm" stroke="1" extrusionOk="0">
                  <a:moveTo>
                    <a:pt x="0" y="0"/>
                  </a:moveTo>
                  <a:lnTo>
                    <a:pt x="2537911" y="0"/>
                  </a:lnTo>
                  <a:lnTo>
                    <a:pt x="2537911" y="5575402"/>
                  </a:lnTo>
                  <a:lnTo>
                    <a:pt x="0" y="5575402"/>
                  </a:lnTo>
                  <a:close/>
                </a:path>
              </a:pathLst>
            </a:custGeom>
            <a:solidFill>
              <a:srgbClr val="0F422C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2537911" cy="561350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  <a:defRPr/>
              </a:pPr>
              <a:endParaRPr/>
            </a:p>
          </p:txBody>
        </p:sp>
      </p:grpSp>
      <p:grpSp>
        <p:nvGrpSpPr>
          <p:cNvPr id="2134865557" name="Group 5"/>
          <p:cNvGrpSpPr/>
          <p:nvPr/>
        </p:nvGrpSpPr>
        <p:grpSpPr bwMode="auto">
          <a:xfrm rot="0">
            <a:off x="9523502" y="-3368783"/>
            <a:ext cx="10382493" cy="1038249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27798" y="27798"/>
              <a:ext cx="757204" cy="757204"/>
            </a:xfrm>
            <a:custGeom>
              <a:avLst/>
              <a:gdLst/>
              <a:ahLst/>
              <a:cxnLst/>
              <a:rect l="l" t="t" r="r" b="b"/>
              <a:pathLst>
                <a:path w="757204" h="757204" fill="norm" stroke="1" extrusionOk="0">
                  <a:moveTo>
                    <a:pt x="426056" y="19656"/>
                  </a:moveTo>
                  <a:lnTo>
                    <a:pt x="737548" y="331148"/>
                  </a:lnTo>
                  <a:cubicBezTo>
                    <a:pt x="763756" y="357356"/>
                    <a:pt x="763756" y="399848"/>
                    <a:pt x="737548" y="426056"/>
                  </a:cubicBezTo>
                  <a:lnTo>
                    <a:pt x="426056" y="737548"/>
                  </a:lnTo>
                  <a:cubicBezTo>
                    <a:pt x="399848" y="763756"/>
                    <a:pt x="357356" y="763756"/>
                    <a:pt x="331148" y="737548"/>
                  </a:cubicBezTo>
                  <a:lnTo>
                    <a:pt x="19656" y="426056"/>
                  </a:lnTo>
                  <a:cubicBezTo>
                    <a:pt x="-6552" y="399848"/>
                    <a:pt x="-6552" y="357356"/>
                    <a:pt x="19656" y="331148"/>
                  </a:cubicBezTo>
                  <a:lnTo>
                    <a:pt x="331148" y="19656"/>
                  </a:lnTo>
                  <a:cubicBezTo>
                    <a:pt x="357356" y="-6552"/>
                    <a:pt x="399848" y="-6552"/>
                    <a:pt x="426056" y="19656"/>
                  </a:cubicBezTo>
                  <a:close/>
                </a:path>
              </a:pathLst>
            </a:custGeom>
            <a:blipFill rotWithShape="1">
              <a:blip r:embed="rId3"/>
              <a:stretch>
                <a:fillRect l="-45885" t="-3671" r="-15227" b="-3671"/>
              </a:stretch>
            </a:blipFill>
          </p:spPr>
        </p:sp>
      </p:grpSp>
      <p:grpSp>
        <p:nvGrpSpPr>
          <p:cNvPr id="1005269373" name="Group 7"/>
          <p:cNvGrpSpPr/>
          <p:nvPr/>
        </p:nvGrpSpPr>
        <p:grpSpPr bwMode="auto">
          <a:xfrm rot="0">
            <a:off x="9706547" y="4769120"/>
            <a:ext cx="4489180" cy="448918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40003" y="40003"/>
              <a:ext cx="732794" cy="732794"/>
            </a:xfrm>
            <a:custGeom>
              <a:avLst/>
              <a:gdLst/>
              <a:ahLst/>
              <a:cxnLst/>
              <a:rect l="l" t="t" r="r" b="b"/>
              <a:pathLst>
                <a:path w="732794" h="732794" fill="norm" stroke="1" extrusionOk="0">
                  <a:moveTo>
                    <a:pt x="434687" y="28287"/>
                  </a:moveTo>
                  <a:lnTo>
                    <a:pt x="704507" y="298107"/>
                  </a:lnTo>
                  <a:cubicBezTo>
                    <a:pt x="722619" y="316219"/>
                    <a:pt x="732794" y="340783"/>
                    <a:pt x="732794" y="366397"/>
                  </a:cubicBezTo>
                  <a:cubicBezTo>
                    <a:pt x="732794" y="392011"/>
                    <a:pt x="722619" y="416575"/>
                    <a:pt x="704507" y="434687"/>
                  </a:cubicBezTo>
                  <a:lnTo>
                    <a:pt x="434687" y="704507"/>
                  </a:lnTo>
                  <a:cubicBezTo>
                    <a:pt x="416575" y="722619"/>
                    <a:pt x="392011" y="732794"/>
                    <a:pt x="366397" y="732794"/>
                  </a:cubicBezTo>
                  <a:cubicBezTo>
                    <a:pt x="340783" y="732794"/>
                    <a:pt x="316219" y="722619"/>
                    <a:pt x="298107" y="704507"/>
                  </a:cubicBezTo>
                  <a:lnTo>
                    <a:pt x="28287" y="434687"/>
                  </a:lnTo>
                  <a:cubicBezTo>
                    <a:pt x="10175" y="416575"/>
                    <a:pt x="0" y="392011"/>
                    <a:pt x="0" y="366397"/>
                  </a:cubicBezTo>
                  <a:cubicBezTo>
                    <a:pt x="0" y="340783"/>
                    <a:pt x="10175" y="316219"/>
                    <a:pt x="28287" y="298107"/>
                  </a:cubicBezTo>
                  <a:lnTo>
                    <a:pt x="298107" y="28287"/>
                  </a:lnTo>
                  <a:cubicBezTo>
                    <a:pt x="316219" y="10175"/>
                    <a:pt x="340783" y="0"/>
                    <a:pt x="366397" y="0"/>
                  </a:cubicBezTo>
                  <a:cubicBezTo>
                    <a:pt x="392011" y="0"/>
                    <a:pt x="416575" y="10175"/>
                    <a:pt x="434687" y="28287"/>
                  </a:cubicBezTo>
                  <a:close/>
                </a:path>
              </a:pathLst>
            </a:custGeom>
            <a:blipFill rotWithShape="1">
              <a:blip r:embed="rId4"/>
              <a:stretch>
                <a:fillRect l="-62135" t="-5458" r="-28554" b="-5457"/>
              </a:stretch>
            </a:blipFill>
          </p:spPr>
        </p:sp>
      </p:grpSp>
      <p:grpSp>
        <p:nvGrpSpPr>
          <p:cNvPr id="970824872" name="Group 9"/>
          <p:cNvGrpSpPr/>
          <p:nvPr/>
        </p:nvGrpSpPr>
        <p:grpSpPr bwMode="auto">
          <a:xfrm rot="2700000">
            <a:off x="14619341" y="3910753"/>
            <a:ext cx="4350452" cy="10685116"/>
            <a:chOff x="0" y="0"/>
            <a:chExt cx="1145798" cy="2814187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145798" cy="2814187"/>
            </a:xfrm>
            <a:custGeom>
              <a:avLst/>
              <a:gdLst/>
              <a:ahLst/>
              <a:cxnLst/>
              <a:rect l="l" t="t" r="r" b="b"/>
              <a:pathLst>
                <a:path w="1145798" h="2814187" fill="norm" stroke="1" extrusionOk="0">
                  <a:moveTo>
                    <a:pt x="0" y="0"/>
                  </a:moveTo>
                  <a:lnTo>
                    <a:pt x="1145798" y="0"/>
                  </a:lnTo>
                  <a:lnTo>
                    <a:pt x="1145798" y="2814187"/>
                  </a:lnTo>
                  <a:lnTo>
                    <a:pt x="0" y="2814187"/>
                  </a:lnTo>
                  <a:close/>
                </a:path>
              </a:pathLst>
            </a:custGeom>
            <a:solidFill>
              <a:srgbClr val="3B6545"/>
            </a:solidFill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145798" cy="285228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  <a:defRPr/>
              </a:pPr>
              <a:endParaRPr/>
            </a:p>
          </p:txBody>
        </p:sp>
      </p:grpSp>
      <p:sp>
        <p:nvSpPr>
          <p:cNvPr id="658242726" name="TextBox 12"/>
          <p:cNvSpPr txBox="1"/>
          <p:nvPr/>
        </p:nvSpPr>
        <p:spPr bwMode="auto">
          <a:xfrm rot="0">
            <a:off x="451715" y="2162364"/>
            <a:ext cx="10752934" cy="1775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5"/>
              </a:lnSpc>
              <a:defRPr/>
            </a:pPr>
            <a:r>
              <a:rPr lang="en-US" sz="34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WASTE SORT AI :</a:t>
            </a:r>
            <a:endParaRPr/>
          </a:p>
          <a:p>
            <a:pPr algn="l">
              <a:lnSpc>
                <a:spcPts val="4655"/>
              </a:lnSpc>
              <a:defRPr/>
            </a:pPr>
            <a:r>
              <a:rPr lang="en-US" sz="34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 AI ASSISTED WASTE SEGREGATION AND RECYCLING SYSTEM FOR LANDFILL REDUCTION .</a:t>
            </a:r>
            <a:endParaRPr/>
          </a:p>
        </p:txBody>
      </p:sp>
      <p:sp>
        <p:nvSpPr>
          <p:cNvPr id="1305001392" name="TextBox 13"/>
          <p:cNvSpPr txBox="1"/>
          <p:nvPr/>
        </p:nvSpPr>
        <p:spPr bwMode="auto">
          <a:xfrm rot="0">
            <a:off x="-3179493" y="4810093"/>
            <a:ext cx="15240880" cy="3007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1"/>
              </a:lnSpc>
              <a:defRPr/>
            </a:pPr>
            <a:r>
              <a:rPr lang="en-US" sz="4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Team Members :</a:t>
            </a:r>
            <a:endParaRPr/>
          </a:p>
          <a:p>
            <a:pPr algn="ctr">
              <a:lnSpc>
                <a:spcPts val="5591"/>
              </a:lnSpc>
              <a:defRPr/>
            </a:pPr>
            <a:r>
              <a:rPr lang="en-US" sz="4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 Sanyukta Salvi ,</a:t>
            </a:r>
            <a:endParaRPr/>
          </a:p>
          <a:p>
            <a:pPr algn="ctr">
              <a:lnSpc>
                <a:spcPts val="5591"/>
              </a:lnSpc>
              <a:defRPr/>
            </a:pPr>
            <a:r>
              <a:rPr lang="en-US" sz="4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 Mubashara Shaikh ,</a:t>
            </a:r>
            <a:endParaRPr/>
          </a:p>
          <a:p>
            <a:pPr algn="ctr">
              <a:lnSpc>
                <a:spcPts val="5591"/>
              </a:lnSpc>
              <a:spcBef>
                <a:spcPts val="0"/>
              </a:spcBef>
              <a:defRPr/>
            </a:pPr>
            <a:r>
              <a:rPr lang="en-US" sz="4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 Gourav Dev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93C28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125767" name="Freeform 2"/>
          <p:cNvSpPr/>
          <p:nvPr/>
        </p:nvSpPr>
        <p:spPr bwMode="auto">
          <a:xfrm rot="0" flipH="0" flipV="0">
            <a:off x="-553917" y="5110832"/>
            <a:ext cx="4040152" cy="3398778"/>
          </a:xfrm>
          <a:custGeom>
            <a:avLst/>
            <a:gdLst/>
            <a:ahLst/>
            <a:cxnLst/>
            <a:rect l="l" t="t" r="r" b="b"/>
            <a:pathLst>
              <a:path w="4040152" h="3398778" fill="norm" stroke="1" extrusionOk="0">
                <a:moveTo>
                  <a:pt x="0" y="0"/>
                </a:moveTo>
                <a:lnTo>
                  <a:pt x="4040152" y="0"/>
                </a:lnTo>
                <a:lnTo>
                  <a:pt x="4040152" y="3398777"/>
                </a:lnTo>
                <a:lnTo>
                  <a:pt x="0" y="3398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 l="0" t="0" r="0" b="0"/>
            </a:stretch>
          </a:blipFill>
        </p:spPr>
      </p:sp>
      <p:sp>
        <p:nvSpPr>
          <p:cNvPr id="620832896" name="Freeform 3"/>
          <p:cNvSpPr/>
          <p:nvPr/>
        </p:nvSpPr>
        <p:spPr bwMode="auto">
          <a:xfrm rot="8736218" flipH="0" flipV="0">
            <a:off x="3500757" y="4559451"/>
            <a:ext cx="4062871" cy="3417890"/>
          </a:xfrm>
          <a:custGeom>
            <a:avLst/>
            <a:gdLst/>
            <a:ahLst/>
            <a:cxnLst/>
            <a:rect l="l" t="t" r="r" b="b"/>
            <a:pathLst>
              <a:path w="4062871" h="3417890" fill="norm" stroke="1" extrusionOk="0">
                <a:moveTo>
                  <a:pt x="0" y="0"/>
                </a:moveTo>
                <a:lnTo>
                  <a:pt x="4062871" y="0"/>
                </a:lnTo>
                <a:lnTo>
                  <a:pt x="4062871" y="3417891"/>
                </a:lnTo>
                <a:lnTo>
                  <a:pt x="0" y="3417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 l="0" t="0" r="0" b="0"/>
            </a:stretch>
          </a:blipFill>
        </p:spPr>
      </p:sp>
      <p:sp>
        <p:nvSpPr>
          <p:cNvPr id="230911159" name="Freeform 4"/>
          <p:cNvSpPr/>
          <p:nvPr/>
        </p:nvSpPr>
        <p:spPr bwMode="auto">
          <a:xfrm rot="4564318" flipH="0" flipV="0">
            <a:off x="6969208" y="4554317"/>
            <a:ext cx="4288496" cy="3607697"/>
          </a:xfrm>
          <a:custGeom>
            <a:avLst/>
            <a:gdLst/>
            <a:ahLst/>
            <a:cxnLst/>
            <a:rect l="l" t="t" r="r" b="b"/>
            <a:pathLst>
              <a:path w="4288496" h="3607697" fill="norm" stroke="1" extrusionOk="0">
                <a:moveTo>
                  <a:pt x="0" y="0"/>
                </a:moveTo>
                <a:lnTo>
                  <a:pt x="4288496" y="0"/>
                </a:lnTo>
                <a:lnTo>
                  <a:pt x="4288496" y="3607698"/>
                </a:lnTo>
                <a:lnTo>
                  <a:pt x="0" y="36076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 l="0" t="0" r="0" b="0"/>
            </a:stretch>
          </a:blipFill>
        </p:spPr>
      </p:sp>
      <p:sp>
        <p:nvSpPr>
          <p:cNvPr id="522981180" name="Freeform 5"/>
          <p:cNvSpPr/>
          <p:nvPr/>
        </p:nvSpPr>
        <p:spPr bwMode="auto">
          <a:xfrm rot="4564318" flipH="0" flipV="0">
            <a:off x="10441511" y="4551909"/>
            <a:ext cx="4207611" cy="3539653"/>
          </a:xfrm>
          <a:custGeom>
            <a:avLst/>
            <a:gdLst/>
            <a:ahLst/>
            <a:cxnLst/>
            <a:rect l="l" t="t" r="r" b="b"/>
            <a:pathLst>
              <a:path w="4207611" h="3539653" fill="norm" stroke="1" extrusionOk="0">
                <a:moveTo>
                  <a:pt x="0" y="0"/>
                </a:moveTo>
                <a:lnTo>
                  <a:pt x="4207611" y="0"/>
                </a:lnTo>
                <a:lnTo>
                  <a:pt x="4207611" y="3539653"/>
                </a:lnTo>
                <a:lnTo>
                  <a:pt x="0" y="3539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 l="0" t="0" r="0" b="0"/>
            </a:stretch>
          </a:blipFill>
        </p:spPr>
      </p:sp>
      <p:sp>
        <p:nvSpPr>
          <p:cNvPr id="1169601469" name="Freeform 6"/>
          <p:cNvSpPr/>
          <p:nvPr/>
        </p:nvSpPr>
        <p:spPr bwMode="auto">
          <a:xfrm rot="0" flipH="0" flipV="0">
            <a:off x="14514937" y="4662254"/>
            <a:ext cx="4031886" cy="3391824"/>
          </a:xfrm>
          <a:custGeom>
            <a:avLst/>
            <a:gdLst/>
            <a:ahLst/>
            <a:cxnLst/>
            <a:rect l="l" t="t" r="r" b="b"/>
            <a:pathLst>
              <a:path w="4031886" h="3391824" fill="norm" stroke="1" extrusionOk="0">
                <a:moveTo>
                  <a:pt x="0" y="0"/>
                </a:moveTo>
                <a:lnTo>
                  <a:pt x="4031886" y="0"/>
                </a:lnTo>
                <a:lnTo>
                  <a:pt x="4031886" y="3391824"/>
                </a:lnTo>
                <a:lnTo>
                  <a:pt x="0" y="3391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 l="0" t="0" r="0" b="0"/>
            </a:stretch>
          </a:blipFill>
        </p:spPr>
      </p:sp>
      <p:sp>
        <p:nvSpPr>
          <p:cNvPr id="781149607" name="TextBox 7"/>
          <p:cNvSpPr txBox="1"/>
          <p:nvPr/>
        </p:nvSpPr>
        <p:spPr bwMode="auto">
          <a:xfrm rot="0">
            <a:off x="365164" y="2941106"/>
            <a:ext cx="17240135" cy="546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5"/>
              </a:lnSpc>
              <a:defRPr/>
            </a:pPr>
            <a:r>
              <a:rPr lang="en-US" sz="3100">
                <a:solidFill>
                  <a:srgbClr val="000000"/>
                </a:solidFill>
                <a:latin typeface="Asap Condensed"/>
                <a:ea typeface="Asap Condensed"/>
                <a:cs typeface="Asap Condensed"/>
              </a:rPr>
              <a:t>Let’s first get to know what’s  the route  of  waste that’s been travelling every-day to this dump yards .</a:t>
            </a:r>
            <a:endParaRPr/>
          </a:p>
        </p:txBody>
      </p:sp>
      <p:sp>
        <p:nvSpPr>
          <p:cNvPr id="1565991266" name="TextBox 8"/>
          <p:cNvSpPr txBox="1"/>
          <p:nvPr/>
        </p:nvSpPr>
        <p:spPr bwMode="auto">
          <a:xfrm rot="0">
            <a:off x="1028700" y="876299"/>
            <a:ext cx="9089209" cy="124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13"/>
              </a:lnSpc>
              <a:spcBef>
                <a:spcPts val="0"/>
              </a:spcBef>
              <a:defRPr/>
            </a:pPr>
            <a:r>
              <a:rPr lang="en-US" sz="7200" b="1">
                <a:solidFill>
                  <a:srgbClr val="173B26"/>
                </a:solidFill>
                <a:latin typeface="Asap Condensed Bold"/>
                <a:ea typeface="Asap Condensed Bold"/>
                <a:cs typeface="Asap Condensed Bold"/>
              </a:rPr>
              <a:t>The Journey of Waste</a:t>
            </a:r>
            <a:endParaRPr/>
          </a:p>
        </p:txBody>
      </p:sp>
      <p:grpSp>
        <p:nvGrpSpPr>
          <p:cNvPr id="1011143359" name="Group 9"/>
          <p:cNvGrpSpPr/>
          <p:nvPr/>
        </p:nvGrpSpPr>
        <p:grpSpPr bwMode="auto">
          <a:xfrm rot="0">
            <a:off x="116802" y="4486066"/>
            <a:ext cx="3369433" cy="4968457"/>
            <a:chOff x="0" y="0"/>
            <a:chExt cx="4492577" cy="6624609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331150" y="0"/>
              <a:ext cx="3775669" cy="4150961"/>
            </a:xfrm>
            <a:custGeom>
              <a:avLst/>
              <a:gdLst/>
              <a:ahLst/>
              <a:cxnLst/>
              <a:rect l="l" t="t" r="r" b="b"/>
              <a:pathLst>
                <a:path w="3775669" h="4150961" fill="norm" stroke="1" extrusionOk="0">
                  <a:moveTo>
                    <a:pt x="0" y="0"/>
                  </a:moveTo>
                  <a:lnTo>
                    <a:pt x="3775668" y="0"/>
                  </a:lnTo>
                  <a:lnTo>
                    <a:pt x="3775668" y="4150961"/>
                  </a:lnTo>
                  <a:lnTo>
                    <a:pt x="0" y="41509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0" b="0"/>
              </a:stretch>
            </a:blipFill>
          </p:spPr>
        </p:sp>
        <p:sp>
          <p:nvSpPr>
            <p:cNvPr id="11" name="TextBox 11"/>
            <p:cNvSpPr txBox="1"/>
            <p:nvPr/>
          </p:nvSpPr>
          <p:spPr bwMode="auto">
            <a:xfrm rot="0">
              <a:off x="0" y="5436691"/>
              <a:ext cx="4492577" cy="11879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55"/>
                </a:lnSpc>
                <a:spcBef>
                  <a:spcPts val="0"/>
                </a:spcBef>
                <a:defRPr/>
              </a:pPr>
              <a:r>
                <a:rPr lang="en-US" sz="2600">
                  <a:solidFill>
                    <a:srgbClr val="000000"/>
                  </a:solidFill>
                  <a:latin typeface="Grenze"/>
                  <a:ea typeface="Grenze"/>
                  <a:cs typeface="Grenze"/>
                </a:rPr>
                <a:t>Home , Schools , colleges , offices , Etc...</a:t>
              </a:r>
              <a:endParaRPr/>
            </a:p>
          </p:txBody>
        </p:sp>
      </p:grpSp>
      <p:grpSp>
        <p:nvGrpSpPr>
          <p:cNvPr id="31828676" name="Group 12"/>
          <p:cNvGrpSpPr/>
          <p:nvPr/>
        </p:nvGrpSpPr>
        <p:grpSpPr bwMode="auto">
          <a:xfrm rot="0">
            <a:off x="3486235" y="3603070"/>
            <a:ext cx="3998749" cy="5667710"/>
            <a:chOff x="0" y="0"/>
            <a:chExt cx="5331665" cy="7556947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597679" y="0"/>
              <a:ext cx="3738588" cy="5508949"/>
            </a:xfrm>
            <a:custGeom>
              <a:avLst/>
              <a:gdLst/>
              <a:ahLst/>
              <a:cxnLst/>
              <a:rect l="l" t="t" r="r" b="b"/>
              <a:pathLst>
                <a:path w="3738588" h="5508949" fill="norm" stroke="1" extrusionOk="0">
                  <a:moveTo>
                    <a:pt x="0" y="0"/>
                  </a:moveTo>
                  <a:lnTo>
                    <a:pt x="3738588" y="0"/>
                  </a:lnTo>
                  <a:lnTo>
                    <a:pt x="3738588" y="5508949"/>
                  </a:lnTo>
                  <a:lnTo>
                    <a:pt x="0" y="55089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-1470" t="0" r="-1469" b="0"/>
              </a:stretch>
            </a:blipFill>
          </p:spPr>
        </p:sp>
        <p:sp>
          <p:nvSpPr>
            <p:cNvPr id="14" name="TextBox 14"/>
            <p:cNvSpPr txBox="1"/>
            <p:nvPr/>
          </p:nvSpPr>
          <p:spPr bwMode="auto">
            <a:xfrm rot="0">
              <a:off x="0" y="6955325"/>
              <a:ext cx="5331665" cy="60162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73"/>
                </a:lnSpc>
                <a:spcBef>
                  <a:spcPts val="0"/>
                </a:spcBef>
                <a:defRPr/>
              </a:pPr>
              <a:r>
                <a:rPr lang="en-US" sz="2750">
                  <a:solidFill>
                    <a:srgbClr val="000000"/>
                  </a:solidFill>
                  <a:latin typeface="Grenze"/>
                  <a:ea typeface="Grenze"/>
                  <a:cs typeface="Grenze"/>
                </a:rPr>
                <a:t>Garbage Collectors </a:t>
              </a:r>
              <a:endParaRPr/>
            </a:p>
          </p:txBody>
        </p:sp>
      </p:grpSp>
      <p:grpSp>
        <p:nvGrpSpPr>
          <p:cNvPr id="118110822" name="Group 15"/>
          <p:cNvGrpSpPr/>
          <p:nvPr/>
        </p:nvGrpSpPr>
        <p:grpSpPr bwMode="auto">
          <a:xfrm rot="0">
            <a:off x="7634700" y="4662254"/>
            <a:ext cx="2957512" cy="4626563"/>
            <a:chOff x="0" y="0"/>
            <a:chExt cx="3943350" cy="616875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504475" y="0"/>
              <a:ext cx="3287011" cy="4233835"/>
            </a:xfrm>
            <a:custGeom>
              <a:avLst/>
              <a:gdLst/>
              <a:ahLst/>
              <a:cxnLst/>
              <a:rect l="l" t="t" r="r" b="b"/>
              <a:pathLst>
                <a:path w="3287011" h="4233835" fill="norm" stroke="1" extrusionOk="0">
                  <a:moveTo>
                    <a:pt x="0" y="0"/>
                  </a:moveTo>
                  <a:lnTo>
                    <a:pt x="3287011" y="0"/>
                  </a:lnTo>
                  <a:lnTo>
                    <a:pt x="3287011" y="4233835"/>
                  </a:lnTo>
                  <a:lnTo>
                    <a:pt x="0" y="42338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-11626" t="-4067" r="-2713" b="0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 rot="0">
              <a:off x="0" y="5567453"/>
              <a:ext cx="3943350" cy="6012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86"/>
                </a:lnSpc>
                <a:spcBef>
                  <a:spcPts val="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latin typeface="Grenze"/>
                  <a:ea typeface="Grenze"/>
                  <a:cs typeface="Grenze"/>
                </a:rPr>
                <a:t>Refuse Transfer Station</a:t>
              </a:r>
              <a:endParaRPr/>
            </a:p>
          </p:txBody>
        </p:sp>
      </p:grpSp>
      <p:grpSp>
        <p:nvGrpSpPr>
          <p:cNvPr id="716295801" name="Group 18"/>
          <p:cNvGrpSpPr/>
          <p:nvPr/>
        </p:nvGrpSpPr>
        <p:grpSpPr bwMode="auto">
          <a:xfrm rot="0">
            <a:off x="10992664" y="5443679"/>
            <a:ext cx="3628808" cy="3770188"/>
            <a:chOff x="0" y="0"/>
            <a:chExt cx="4838411" cy="5026918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4838411" cy="2780791"/>
            </a:xfrm>
            <a:custGeom>
              <a:avLst/>
              <a:gdLst/>
              <a:ahLst/>
              <a:cxnLst/>
              <a:rect l="l" t="t" r="r" b="b"/>
              <a:pathLst>
                <a:path w="4838411" h="2780791" fill="norm" stroke="1" extrusionOk="0">
                  <a:moveTo>
                    <a:pt x="0" y="0"/>
                  </a:moveTo>
                  <a:lnTo>
                    <a:pt x="4838411" y="0"/>
                  </a:lnTo>
                  <a:lnTo>
                    <a:pt x="4838411" y="2780791"/>
                  </a:lnTo>
                  <a:lnTo>
                    <a:pt x="0" y="27807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10109" t="-16591" r="0" b="0"/>
              </a:stretch>
            </a:blipFill>
          </p:spPr>
        </p:sp>
        <p:sp>
          <p:nvSpPr>
            <p:cNvPr id="20" name="TextBox 20"/>
            <p:cNvSpPr txBox="1"/>
            <p:nvPr/>
          </p:nvSpPr>
          <p:spPr bwMode="auto">
            <a:xfrm rot="0">
              <a:off x="936030" y="4337691"/>
              <a:ext cx="3016331" cy="6892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5"/>
                </a:lnSpc>
                <a:spcBef>
                  <a:spcPts val="0"/>
                </a:spcBef>
                <a:defRPr/>
              </a:pPr>
              <a:r>
                <a:rPr lang="en-US" sz="3100">
                  <a:solidFill>
                    <a:srgbClr val="000000"/>
                  </a:solidFill>
                  <a:latin typeface="Grenze"/>
                  <a:ea typeface="Grenze"/>
                  <a:cs typeface="Grenze"/>
                </a:rPr>
                <a:t>Garbage van</a:t>
              </a:r>
              <a:endParaRPr/>
            </a:p>
          </p:txBody>
        </p:sp>
      </p:grpSp>
      <p:grpSp>
        <p:nvGrpSpPr>
          <p:cNvPr id="420166545" name="Group 21"/>
          <p:cNvGrpSpPr/>
          <p:nvPr/>
        </p:nvGrpSpPr>
        <p:grpSpPr bwMode="auto">
          <a:xfrm rot="0">
            <a:off x="14921159" y="5855857"/>
            <a:ext cx="3366841" cy="3315276"/>
            <a:chOff x="0" y="0"/>
            <a:chExt cx="4489122" cy="442036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4489122" cy="2231221"/>
            </a:xfrm>
            <a:custGeom>
              <a:avLst/>
              <a:gdLst/>
              <a:ahLst/>
              <a:cxnLst/>
              <a:rect l="l" t="t" r="r" b="b"/>
              <a:pathLst>
                <a:path w="4489122" h="2231221" fill="norm" stroke="1" extrusionOk="0">
                  <a:moveTo>
                    <a:pt x="0" y="0"/>
                  </a:moveTo>
                  <a:lnTo>
                    <a:pt x="4489122" y="0"/>
                  </a:lnTo>
                  <a:lnTo>
                    <a:pt x="4489122" y="2231221"/>
                  </a:lnTo>
                  <a:lnTo>
                    <a:pt x="0" y="2231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-1292" t="0" r="-7402" b="0"/>
              </a:stretch>
            </a:blipFill>
          </p:spPr>
        </p:sp>
        <p:sp>
          <p:nvSpPr>
            <p:cNvPr id="23" name="TextBox 23"/>
            <p:cNvSpPr txBox="1"/>
            <p:nvPr/>
          </p:nvSpPr>
          <p:spPr bwMode="auto">
            <a:xfrm rot="0">
              <a:off x="289769" y="3797646"/>
              <a:ext cx="3163094" cy="6227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  <a:spcBef>
                  <a:spcPts val="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latin typeface="Grenze"/>
                  <a:ea typeface="Grenze"/>
                  <a:cs typeface="Grenze"/>
                </a:rPr>
                <a:t>Dump Yard</a:t>
              </a:r>
              <a:endParaRPr/>
            </a:p>
          </p:txBody>
        </p:sp>
      </p:grpSp>
      <p:sp>
        <p:nvSpPr>
          <p:cNvPr id="600771299" name="TextBox 24"/>
          <p:cNvSpPr txBox="1"/>
          <p:nvPr/>
        </p:nvSpPr>
        <p:spPr bwMode="auto">
          <a:xfrm rot="0">
            <a:off x="867218" y="2196194"/>
            <a:ext cx="9625041" cy="47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8"/>
              </a:lnSpc>
              <a:spcBef>
                <a:spcPts val="0"/>
              </a:spcBef>
              <a:defRPr/>
            </a:pPr>
            <a:r>
              <a:rPr lang="en-US" sz="2750">
                <a:solidFill>
                  <a:srgbClr val="000000"/>
                </a:solidFill>
                <a:latin typeface="Helvetica Now"/>
                <a:ea typeface="Helvetica Now"/>
                <a:cs typeface="Helvetica Now"/>
              </a:rPr>
              <a:t>1,62,000 tones of waste collected everyday ( ~pib.gov.in)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591987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439864815" name="Freeform 3"/>
          <p:cNvSpPr/>
          <p:nvPr/>
        </p:nvSpPr>
        <p:spPr bwMode="auto">
          <a:xfrm rot="0" flipH="0" flipV="0">
            <a:off x="7084502" y="3027244"/>
            <a:ext cx="2541270" cy="2762250"/>
          </a:xfrm>
          <a:custGeom>
            <a:avLst/>
            <a:gdLst/>
            <a:ahLst/>
            <a:cxnLst/>
            <a:rect l="l" t="t" r="r" b="b"/>
            <a:pathLst>
              <a:path w="2541270" h="2762250" fill="norm" stroke="1" extrusionOk="0">
                <a:moveTo>
                  <a:pt x="0" y="0"/>
                </a:moveTo>
                <a:lnTo>
                  <a:pt x="2541270" y="0"/>
                </a:lnTo>
                <a:lnTo>
                  <a:pt x="2541270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1168430761" name="Group 4"/>
          <p:cNvGrpSpPr/>
          <p:nvPr/>
        </p:nvGrpSpPr>
        <p:grpSpPr bwMode="auto">
          <a:xfrm rot="0">
            <a:off x="7084502" y="3027244"/>
            <a:ext cx="2017840" cy="2348032"/>
            <a:chOff x="0" y="0"/>
            <a:chExt cx="698500" cy="8128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 fill="norm" stroke="1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1694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101600"/>
              <a:ext cx="698500" cy="571500"/>
            </a:xfrm>
            <a:prstGeom prst="rect">
              <a:avLst/>
            </a:prstGeom>
            <a:grpFill/>
          </p:spPr>
          <p:txBody>
            <a:bodyPr lIns="45067" tIns="45067" rIns="45067" bIns="45067" rtlCol="0" anchor="ctr"/>
            <a:lstStyle/>
            <a:p>
              <a:pPr algn="ctr">
                <a:lnSpc>
                  <a:spcPts val="2660"/>
                </a:lnSpc>
                <a:defRPr/>
              </a:pPr>
              <a:endParaRPr/>
            </a:p>
          </p:txBody>
        </p:sp>
      </p:grpSp>
      <p:sp>
        <p:nvSpPr>
          <p:cNvPr id="2074540634" name="Freeform 7"/>
          <p:cNvSpPr/>
          <p:nvPr/>
        </p:nvSpPr>
        <p:spPr bwMode="auto">
          <a:xfrm rot="0" flipH="0" flipV="0">
            <a:off x="7084502" y="6602596"/>
            <a:ext cx="2541270" cy="2762250"/>
          </a:xfrm>
          <a:custGeom>
            <a:avLst/>
            <a:gdLst/>
            <a:ahLst/>
            <a:cxnLst/>
            <a:rect l="l" t="t" r="r" b="b"/>
            <a:pathLst>
              <a:path w="2541270" h="2762250" fill="norm" stroke="1" extrusionOk="0">
                <a:moveTo>
                  <a:pt x="0" y="0"/>
                </a:moveTo>
                <a:lnTo>
                  <a:pt x="2541270" y="0"/>
                </a:lnTo>
                <a:lnTo>
                  <a:pt x="2541270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1073654924" name="Group 8"/>
          <p:cNvGrpSpPr/>
          <p:nvPr/>
        </p:nvGrpSpPr>
        <p:grpSpPr bwMode="auto">
          <a:xfrm rot="0">
            <a:off x="7084502" y="6602596"/>
            <a:ext cx="2017840" cy="2348032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 fill="norm" stroke="1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BD59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101600"/>
              <a:ext cx="698500" cy="571500"/>
            </a:xfrm>
            <a:prstGeom prst="rect">
              <a:avLst/>
            </a:prstGeom>
            <a:grpFill/>
          </p:spPr>
          <p:txBody>
            <a:bodyPr lIns="45067" tIns="45067" rIns="45067" bIns="45067" rtlCol="0" anchor="ctr"/>
            <a:lstStyle/>
            <a:p>
              <a:pPr algn="ctr">
                <a:lnSpc>
                  <a:spcPts val="2660"/>
                </a:lnSpc>
                <a:defRPr/>
              </a:pPr>
              <a:endParaRPr/>
            </a:p>
          </p:txBody>
        </p:sp>
      </p:grpSp>
      <p:sp>
        <p:nvSpPr>
          <p:cNvPr id="1159365696" name="Freeform 11"/>
          <p:cNvSpPr/>
          <p:nvPr/>
        </p:nvSpPr>
        <p:spPr bwMode="auto">
          <a:xfrm rot="0" flipH="0" flipV="0">
            <a:off x="5962904" y="4814920"/>
            <a:ext cx="2541270" cy="2762250"/>
          </a:xfrm>
          <a:custGeom>
            <a:avLst/>
            <a:gdLst/>
            <a:ahLst/>
            <a:cxnLst/>
            <a:rect l="l" t="t" r="r" b="b"/>
            <a:pathLst>
              <a:path w="2541270" h="2762250" fill="norm" stroke="1" extrusionOk="0">
                <a:moveTo>
                  <a:pt x="0" y="0"/>
                </a:moveTo>
                <a:lnTo>
                  <a:pt x="2541270" y="0"/>
                </a:lnTo>
                <a:lnTo>
                  <a:pt x="2541270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id="414804631" name="Freeform 12"/>
          <p:cNvSpPr/>
          <p:nvPr/>
        </p:nvSpPr>
        <p:spPr bwMode="auto">
          <a:xfrm rot="0" flipH="0" flipV="0">
            <a:off x="9185658" y="3027244"/>
            <a:ext cx="2541270" cy="2762250"/>
          </a:xfrm>
          <a:custGeom>
            <a:avLst/>
            <a:gdLst/>
            <a:ahLst/>
            <a:cxnLst/>
            <a:rect l="l" t="t" r="r" b="b"/>
            <a:pathLst>
              <a:path w="2541270" h="2762250" fill="norm" stroke="1" extrusionOk="0">
                <a:moveTo>
                  <a:pt x="0" y="0"/>
                </a:moveTo>
                <a:lnTo>
                  <a:pt x="2541270" y="0"/>
                </a:lnTo>
                <a:lnTo>
                  <a:pt x="2541270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1925682995" name="Group 13"/>
          <p:cNvGrpSpPr/>
          <p:nvPr/>
        </p:nvGrpSpPr>
        <p:grpSpPr bwMode="auto">
          <a:xfrm rot="0">
            <a:off x="9185658" y="3027244"/>
            <a:ext cx="2017840" cy="2348032"/>
            <a:chOff x="0" y="0"/>
            <a:chExt cx="698500" cy="81280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 fill="norm" stroke="1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5A80B2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101600"/>
              <a:ext cx="698500" cy="571500"/>
            </a:xfrm>
            <a:prstGeom prst="rect">
              <a:avLst/>
            </a:prstGeom>
            <a:grpFill/>
          </p:spPr>
          <p:txBody>
            <a:bodyPr lIns="45067" tIns="45067" rIns="45067" bIns="45067" rtlCol="0" anchor="ctr"/>
            <a:lstStyle/>
            <a:p>
              <a:pPr algn="ctr">
                <a:lnSpc>
                  <a:spcPts val="2660"/>
                </a:lnSpc>
                <a:defRPr/>
              </a:pPr>
              <a:endParaRPr/>
            </a:p>
          </p:txBody>
        </p:sp>
      </p:grpSp>
      <p:sp>
        <p:nvSpPr>
          <p:cNvPr id="618125002" name="Freeform 16"/>
          <p:cNvSpPr/>
          <p:nvPr/>
        </p:nvSpPr>
        <p:spPr bwMode="auto">
          <a:xfrm rot="0" flipH="0" flipV="0">
            <a:off x="10307256" y="4814920"/>
            <a:ext cx="2541270" cy="2762250"/>
          </a:xfrm>
          <a:custGeom>
            <a:avLst/>
            <a:gdLst/>
            <a:ahLst/>
            <a:cxnLst/>
            <a:rect l="l" t="t" r="r" b="b"/>
            <a:pathLst>
              <a:path w="2541270" h="2762250" fill="norm" stroke="1" extrusionOk="0">
                <a:moveTo>
                  <a:pt x="0" y="0"/>
                </a:moveTo>
                <a:lnTo>
                  <a:pt x="2541270" y="0"/>
                </a:lnTo>
                <a:lnTo>
                  <a:pt x="2541270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id="259689998" name="Freeform 17"/>
          <p:cNvSpPr/>
          <p:nvPr/>
        </p:nvSpPr>
        <p:spPr bwMode="auto">
          <a:xfrm rot="0" flipH="0" flipV="0">
            <a:off x="9185658" y="6602596"/>
            <a:ext cx="2541270" cy="2762250"/>
          </a:xfrm>
          <a:custGeom>
            <a:avLst/>
            <a:gdLst/>
            <a:ahLst/>
            <a:cxnLst/>
            <a:rect l="l" t="t" r="r" b="b"/>
            <a:pathLst>
              <a:path w="2541270" h="2762250" fill="norm" stroke="1" extrusionOk="0">
                <a:moveTo>
                  <a:pt x="0" y="0"/>
                </a:moveTo>
                <a:lnTo>
                  <a:pt x="2541270" y="0"/>
                </a:lnTo>
                <a:lnTo>
                  <a:pt x="2541270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77062889" name="Group 18"/>
          <p:cNvGrpSpPr/>
          <p:nvPr/>
        </p:nvGrpSpPr>
        <p:grpSpPr bwMode="auto">
          <a:xfrm rot="0">
            <a:off x="9185658" y="6602596"/>
            <a:ext cx="2017840" cy="2348032"/>
            <a:chOff x="0" y="0"/>
            <a:chExt cx="6985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 fill="norm" stroke="1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C5679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101600"/>
              <a:ext cx="698500" cy="571500"/>
            </a:xfrm>
            <a:prstGeom prst="rect">
              <a:avLst/>
            </a:prstGeom>
            <a:grpFill/>
          </p:spPr>
          <p:txBody>
            <a:bodyPr lIns="45067" tIns="45067" rIns="45067" bIns="45067" rtlCol="0" anchor="ctr"/>
            <a:lstStyle/>
            <a:p>
              <a:pPr algn="ctr">
                <a:lnSpc>
                  <a:spcPts val="2660"/>
                </a:lnSpc>
                <a:defRPr/>
              </a:pPr>
              <a:endParaRPr/>
            </a:p>
          </p:txBody>
        </p:sp>
      </p:grpSp>
      <p:grpSp>
        <p:nvGrpSpPr>
          <p:cNvPr id="763969063" name="Group 21"/>
          <p:cNvGrpSpPr/>
          <p:nvPr/>
        </p:nvGrpSpPr>
        <p:grpSpPr bwMode="auto">
          <a:xfrm rot="0">
            <a:off x="10307256" y="4814920"/>
            <a:ext cx="2017840" cy="2348032"/>
            <a:chOff x="0" y="0"/>
            <a:chExt cx="6985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 fill="norm" stroke="1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72703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0" y="92075"/>
              <a:ext cx="698500" cy="581025"/>
            </a:xfrm>
            <a:prstGeom prst="rect">
              <a:avLst/>
            </a:prstGeom>
            <a:grpFill/>
          </p:spPr>
          <p:txBody>
            <a:bodyPr lIns="45067" tIns="45067" rIns="45067" bIns="45067" rtlCol="0" anchor="ctr"/>
            <a:lstStyle/>
            <a:p>
              <a:pPr algn="ctr">
                <a:lnSpc>
                  <a:spcPts val="3079"/>
                </a:lnSpc>
                <a:defRPr/>
              </a:pPr>
              <a:endParaRPr/>
            </a:p>
          </p:txBody>
        </p:sp>
      </p:grpSp>
      <p:grpSp>
        <p:nvGrpSpPr>
          <p:cNvPr id="1965778376" name="Group 24"/>
          <p:cNvGrpSpPr/>
          <p:nvPr/>
        </p:nvGrpSpPr>
        <p:grpSpPr bwMode="auto">
          <a:xfrm rot="0">
            <a:off x="5962904" y="4814920"/>
            <a:ext cx="2017840" cy="2348032"/>
            <a:chOff x="0" y="0"/>
            <a:chExt cx="698500" cy="81280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 fill="norm" stroke="1" extrusionOk="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87B1B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0" y="101600"/>
              <a:ext cx="698500" cy="571500"/>
            </a:xfrm>
            <a:prstGeom prst="rect">
              <a:avLst/>
            </a:prstGeom>
            <a:grpFill/>
          </p:spPr>
          <p:txBody>
            <a:bodyPr lIns="45067" tIns="45067" rIns="45067" bIns="45067" rtlCol="0" anchor="ctr"/>
            <a:lstStyle/>
            <a:p>
              <a:pPr algn="ctr">
                <a:lnSpc>
                  <a:spcPts val="2660"/>
                </a:lnSpc>
                <a:defRPr/>
              </a:pPr>
              <a:endParaRPr/>
            </a:p>
          </p:txBody>
        </p:sp>
      </p:grpSp>
      <p:sp>
        <p:nvSpPr>
          <p:cNvPr id="537717524" name="Freeform 27"/>
          <p:cNvSpPr/>
          <p:nvPr/>
        </p:nvSpPr>
        <p:spPr bwMode="auto">
          <a:xfrm rot="0" flipH="0" flipV="0">
            <a:off x="8273569" y="5143500"/>
            <a:ext cx="813732" cy="1690872"/>
          </a:xfrm>
          <a:custGeom>
            <a:avLst/>
            <a:gdLst/>
            <a:ahLst/>
            <a:cxnLst/>
            <a:rect l="l" t="t" r="r" b="b"/>
            <a:pathLst>
              <a:path w="813732" h="1690872" fill="norm" stroke="1" extrusionOk="0">
                <a:moveTo>
                  <a:pt x="0" y="0"/>
                </a:moveTo>
                <a:lnTo>
                  <a:pt x="813732" y="0"/>
                </a:lnTo>
                <a:lnTo>
                  <a:pt x="813732" y="1690872"/>
                </a:lnTo>
                <a:lnTo>
                  <a:pt x="0" y="169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/>
            <a:stretch>
              <a:fillRect l="0" t="0" r="0" b="0"/>
            </a:stretch>
          </a:blipFill>
        </p:spPr>
      </p:sp>
      <p:sp>
        <p:nvSpPr>
          <p:cNvPr id="2077880082" name="Freeform 28"/>
          <p:cNvSpPr/>
          <p:nvPr/>
        </p:nvSpPr>
        <p:spPr bwMode="auto">
          <a:xfrm rot="0" flipH="1" flipV="0">
            <a:off x="9154197" y="5143500"/>
            <a:ext cx="813732" cy="1690872"/>
          </a:xfrm>
          <a:custGeom>
            <a:avLst/>
            <a:gdLst/>
            <a:ahLst/>
            <a:cxnLst/>
            <a:rect l="l" t="t" r="r" b="b"/>
            <a:pathLst>
              <a:path w="813732" h="1690872" fill="norm" stroke="1" extrusionOk="0">
                <a:moveTo>
                  <a:pt x="813732" y="0"/>
                </a:moveTo>
                <a:lnTo>
                  <a:pt x="0" y="0"/>
                </a:lnTo>
                <a:lnTo>
                  <a:pt x="0" y="1690872"/>
                </a:lnTo>
                <a:lnTo>
                  <a:pt x="813732" y="1690872"/>
                </a:lnTo>
                <a:lnTo>
                  <a:pt x="813732" y="0"/>
                </a:lnTo>
                <a:close/>
              </a:path>
            </a:pathLst>
          </a:custGeom>
          <a:blipFill rotWithShape="1">
            <a:blip r:embed="rId18"/>
            <a:stretch>
              <a:fillRect l="0" t="0" r="0" b="0"/>
            </a:stretch>
          </a:blipFill>
        </p:spPr>
      </p:sp>
      <p:sp>
        <p:nvSpPr>
          <p:cNvPr id="627876120" name="Freeform 29"/>
          <p:cNvSpPr/>
          <p:nvPr/>
        </p:nvSpPr>
        <p:spPr bwMode="auto">
          <a:xfrm rot="0" flipH="0" flipV="0">
            <a:off x="1561307" y="3171316"/>
            <a:ext cx="1381125" cy="1381125"/>
          </a:xfrm>
          <a:custGeom>
            <a:avLst/>
            <a:gdLst/>
            <a:ahLst/>
            <a:cxnLst/>
            <a:rect l="l" t="t" r="r" b="b"/>
            <a:pathLst>
              <a:path w="1381125" h="1381125" fill="norm" stroke="1" extrusionOk="0">
                <a:moveTo>
                  <a:pt x="0" y="0"/>
                </a:moveTo>
                <a:lnTo>
                  <a:pt x="1381125" y="0"/>
                </a:lnTo>
                <a:lnTo>
                  <a:pt x="1381125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1819498021" name="Group 30"/>
          <p:cNvGrpSpPr/>
          <p:nvPr/>
        </p:nvGrpSpPr>
        <p:grpSpPr bwMode="auto">
          <a:xfrm rot="0">
            <a:off x="1561307" y="3171316"/>
            <a:ext cx="1103425" cy="110342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1694E"/>
            </a:solid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47625"/>
              <a:ext cx="812800" cy="8604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defRPr/>
              </a:pPr>
              <a:endParaRPr/>
            </a:p>
          </p:txBody>
        </p:sp>
      </p:grpSp>
      <p:sp>
        <p:nvSpPr>
          <p:cNvPr id="896517547" name="Freeform 33"/>
          <p:cNvSpPr/>
          <p:nvPr/>
        </p:nvSpPr>
        <p:spPr bwMode="auto">
          <a:xfrm rot="0" flipH="0" flipV="0">
            <a:off x="15612643" y="3171316"/>
            <a:ext cx="1381125" cy="1381125"/>
          </a:xfrm>
          <a:custGeom>
            <a:avLst/>
            <a:gdLst/>
            <a:ahLst/>
            <a:cxnLst/>
            <a:rect l="l" t="t" r="r" b="b"/>
            <a:pathLst>
              <a:path w="1381125" h="1381125" fill="norm" stroke="1" extrusionOk="0">
                <a:moveTo>
                  <a:pt x="0" y="0"/>
                </a:moveTo>
                <a:lnTo>
                  <a:pt x="1381125" y="0"/>
                </a:lnTo>
                <a:lnTo>
                  <a:pt x="1381125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1010737271" name="Group 34"/>
          <p:cNvGrpSpPr/>
          <p:nvPr/>
        </p:nvGrpSpPr>
        <p:grpSpPr bwMode="auto">
          <a:xfrm rot="0">
            <a:off x="15612643" y="3171316"/>
            <a:ext cx="1103425" cy="110342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5A80B2"/>
            </a:solidFill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47625"/>
              <a:ext cx="812800" cy="8604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defRPr/>
              </a:pPr>
              <a:endParaRPr/>
            </a:p>
          </p:txBody>
        </p:sp>
      </p:grpSp>
      <p:sp>
        <p:nvSpPr>
          <p:cNvPr id="1457174360" name="Freeform 37"/>
          <p:cNvSpPr/>
          <p:nvPr/>
        </p:nvSpPr>
        <p:spPr bwMode="auto">
          <a:xfrm rot="0" flipH="0" flipV="0">
            <a:off x="15612643" y="7705097"/>
            <a:ext cx="1381125" cy="1381125"/>
          </a:xfrm>
          <a:custGeom>
            <a:avLst/>
            <a:gdLst/>
            <a:ahLst/>
            <a:cxnLst/>
            <a:rect l="l" t="t" r="r" b="b"/>
            <a:pathLst>
              <a:path w="1381125" h="1381125" fill="norm" stroke="1" extrusionOk="0">
                <a:moveTo>
                  <a:pt x="0" y="0"/>
                </a:moveTo>
                <a:lnTo>
                  <a:pt x="1381125" y="0"/>
                </a:lnTo>
                <a:lnTo>
                  <a:pt x="1381125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787690114" name="Group 38"/>
          <p:cNvGrpSpPr/>
          <p:nvPr/>
        </p:nvGrpSpPr>
        <p:grpSpPr bwMode="auto">
          <a:xfrm rot="0">
            <a:off x="15612643" y="7705097"/>
            <a:ext cx="1103425" cy="1103425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C5679"/>
            </a:solidFill>
          </p:spPr>
        </p:sp>
        <p:sp>
          <p:nvSpPr>
            <p:cNvPr id="40" name="TextBox 40"/>
            <p:cNvSpPr txBox="1"/>
            <p:nvPr/>
          </p:nvSpPr>
          <p:spPr bwMode="auto">
            <a:xfrm>
              <a:off x="0" y="-47625"/>
              <a:ext cx="812800" cy="8604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defRPr/>
              </a:pPr>
              <a:endParaRPr/>
            </a:p>
          </p:txBody>
        </p:sp>
      </p:grpSp>
      <p:sp>
        <p:nvSpPr>
          <p:cNvPr id="335663828" name="Freeform 41"/>
          <p:cNvSpPr/>
          <p:nvPr/>
        </p:nvSpPr>
        <p:spPr bwMode="auto">
          <a:xfrm rot="0" flipH="0" flipV="0">
            <a:off x="16155875" y="5439622"/>
            <a:ext cx="1381125" cy="1381125"/>
          </a:xfrm>
          <a:custGeom>
            <a:avLst/>
            <a:gdLst/>
            <a:ahLst/>
            <a:cxnLst/>
            <a:rect l="l" t="t" r="r" b="b"/>
            <a:pathLst>
              <a:path w="1381125" h="1381125" fill="norm" stroke="1" extrusionOk="0">
                <a:moveTo>
                  <a:pt x="0" y="0"/>
                </a:moveTo>
                <a:lnTo>
                  <a:pt x="1381125" y="0"/>
                </a:lnTo>
                <a:lnTo>
                  <a:pt x="1381125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778946073" name="Group 42"/>
          <p:cNvGrpSpPr/>
          <p:nvPr/>
        </p:nvGrpSpPr>
        <p:grpSpPr bwMode="auto">
          <a:xfrm rot="0">
            <a:off x="16155875" y="5439622"/>
            <a:ext cx="1103425" cy="1103425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A72703"/>
            </a:solidFill>
          </p:spPr>
        </p:sp>
        <p:sp>
          <p:nvSpPr>
            <p:cNvPr id="44" name="TextBox 44"/>
            <p:cNvSpPr txBox="1"/>
            <p:nvPr/>
          </p:nvSpPr>
          <p:spPr bwMode="auto">
            <a:xfrm>
              <a:off x="0" y="-47625"/>
              <a:ext cx="812800" cy="8604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defRPr/>
              </a:pPr>
              <a:endParaRPr/>
            </a:p>
          </p:txBody>
        </p:sp>
      </p:grpSp>
      <p:sp>
        <p:nvSpPr>
          <p:cNvPr id="1080303704" name="Freeform 45"/>
          <p:cNvSpPr/>
          <p:nvPr/>
        </p:nvSpPr>
        <p:spPr bwMode="auto">
          <a:xfrm rot="0" flipH="0" flipV="0">
            <a:off x="1561307" y="7705877"/>
            <a:ext cx="1381125" cy="1381125"/>
          </a:xfrm>
          <a:custGeom>
            <a:avLst/>
            <a:gdLst/>
            <a:ahLst/>
            <a:cxnLst/>
            <a:rect l="l" t="t" r="r" b="b"/>
            <a:pathLst>
              <a:path w="1381125" h="1381125" fill="norm" stroke="1" extrusionOk="0">
                <a:moveTo>
                  <a:pt x="0" y="0"/>
                </a:moveTo>
                <a:lnTo>
                  <a:pt x="1381125" y="0"/>
                </a:lnTo>
                <a:lnTo>
                  <a:pt x="1381125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2139369294" name="Group 46"/>
          <p:cNvGrpSpPr/>
          <p:nvPr/>
        </p:nvGrpSpPr>
        <p:grpSpPr bwMode="auto">
          <a:xfrm rot="0">
            <a:off x="1561307" y="7705877"/>
            <a:ext cx="1103425" cy="1103425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48" name="TextBox 48"/>
            <p:cNvSpPr txBox="1"/>
            <p:nvPr/>
          </p:nvSpPr>
          <p:spPr bwMode="auto">
            <a:xfrm>
              <a:off x="0" y="-47625"/>
              <a:ext cx="812800" cy="8604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defRPr/>
              </a:pPr>
              <a:endParaRPr/>
            </a:p>
          </p:txBody>
        </p:sp>
      </p:grpSp>
      <p:sp>
        <p:nvSpPr>
          <p:cNvPr id="476472056" name="Freeform 49"/>
          <p:cNvSpPr/>
          <p:nvPr/>
        </p:nvSpPr>
        <p:spPr bwMode="auto">
          <a:xfrm rot="0" flipH="0" flipV="0">
            <a:off x="1028700" y="5439622"/>
            <a:ext cx="1381125" cy="1381125"/>
          </a:xfrm>
          <a:custGeom>
            <a:avLst/>
            <a:gdLst/>
            <a:ahLst/>
            <a:cxnLst/>
            <a:rect l="l" t="t" r="r" b="b"/>
            <a:pathLst>
              <a:path w="1381125" h="1381125" fill="norm" stroke="1" extrusionOk="0">
                <a:moveTo>
                  <a:pt x="0" y="0"/>
                </a:moveTo>
                <a:lnTo>
                  <a:pt x="1381125" y="0"/>
                </a:lnTo>
                <a:lnTo>
                  <a:pt x="1381125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 amt="37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232197692" name="Group 50"/>
          <p:cNvGrpSpPr/>
          <p:nvPr/>
        </p:nvGrpSpPr>
        <p:grpSpPr bwMode="auto">
          <a:xfrm rot="0">
            <a:off x="1028700" y="5439622"/>
            <a:ext cx="1103425" cy="1103425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87B1B"/>
            </a:solidFill>
          </p:spPr>
        </p:sp>
        <p:sp>
          <p:nvSpPr>
            <p:cNvPr id="52" name="TextBox 52"/>
            <p:cNvSpPr txBox="1"/>
            <p:nvPr/>
          </p:nvSpPr>
          <p:spPr bwMode="auto">
            <a:xfrm>
              <a:off x="0" y="-47625"/>
              <a:ext cx="812800" cy="8604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defRPr/>
              </a:pPr>
              <a:endParaRPr/>
            </a:p>
          </p:txBody>
        </p:sp>
      </p:grpSp>
      <p:sp>
        <p:nvSpPr>
          <p:cNvPr id="628709686" name="Freeform 53"/>
          <p:cNvSpPr/>
          <p:nvPr/>
        </p:nvSpPr>
        <p:spPr bwMode="auto">
          <a:xfrm rot="0" flipH="0" flipV="0">
            <a:off x="7521279" y="3527008"/>
            <a:ext cx="1144286" cy="1097412"/>
          </a:xfrm>
          <a:custGeom>
            <a:avLst/>
            <a:gdLst/>
            <a:ahLst/>
            <a:cxnLst/>
            <a:rect l="l" t="t" r="r" b="b"/>
            <a:pathLst>
              <a:path w="1144286" h="1097412" fill="norm" stroke="1" extrusionOk="0">
                <a:moveTo>
                  <a:pt x="0" y="0"/>
                </a:moveTo>
                <a:lnTo>
                  <a:pt x="1144286" y="0"/>
                </a:lnTo>
                <a:lnTo>
                  <a:pt x="1144286" y="1097412"/>
                </a:lnTo>
                <a:lnTo>
                  <a:pt x="0" y="1097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/>
            <a:stretch>
              <a:fillRect l="0" t="0" r="0" b="0"/>
            </a:stretch>
          </a:blipFill>
        </p:spPr>
      </p:sp>
      <p:sp>
        <p:nvSpPr>
          <p:cNvPr id="1566013059" name="Freeform 54"/>
          <p:cNvSpPr/>
          <p:nvPr/>
        </p:nvSpPr>
        <p:spPr bwMode="auto">
          <a:xfrm rot="0" flipH="0" flipV="0">
            <a:off x="6466648" y="5290939"/>
            <a:ext cx="1010352" cy="1082226"/>
          </a:xfrm>
          <a:custGeom>
            <a:avLst/>
            <a:gdLst/>
            <a:ahLst/>
            <a:cxnLst/>
            <a:rect l="l" t="t" r="r" b="b"/>
            <a:pathLst>
              <a:path w="1010352" h="1082226" fill="norm" stroke="1" extrusionOk="0">
                <a:moveTo>
                  <a:pt x="0" y="0"/>
                </a:moveTo>
                <a:lnTo>
                  <a:pt x="1010352" y="0"/>
                </a:lnTo>
                <a:lnTo>
                  <a:pt x="1010352" y="1082226"/>
                </a:lnTo>
                <a:lnTo>
                  <a:pt x="0" y="108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/>
            <a:stretch>
              <a:fillRect l="0" t="0" r="0" b="0"/>
            </a:stretch>
          </a:blipFill>
        </p:spPr>
      </p:sp>
      <p:sp>
        <p:nvSpPr>
          <p:cNvPr id="1033238519" name="Freeform 55"/>
          <p:cNvSpPr/>
          <p:nvPr/>
        </p:nvSpPr>
        <p:spPr bwMode="auto">
          <a:xfrm rot="0" flipH="0" flipV="0">
            <a:off x="7310754" y="7164613"/>
            <a:ext cx="1565335" cy="1128747"/>
          </a:xfrm>
          <a:custGeom>
            <a:avLst/>
            <a:gdLst/>
            <a:ahLst/>
            <a:cxnLst/>
            <a:rect l="l" t="t" r="r" b="b"/>
            <a:pathLst>
              <a:path w="1565335" h="1128747" fill="norm" stroke="1" extrusionOk="0">
                <a:moveTo>
                  <a:pt x="0" y="0"/>
                </a:moveTo>
                <a:lnTo>
                  <a:pt x="1565336" y="0"/>
                </a:lnTo>
                <a:lnTo>
                  <a:pt x="1565336" y="1128748"/>
                </a:lnTo>
                <a:lnTo>
                  <a:pt x="0" y="1128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/>
            <a:stretch>
              <a:fillRect l="0" t="-874" r="0" b="-873"/>
            </a:stretch>
          </a:blipFill>
        </p:spPr>
      </p:sp>
      <p:sp>
        <p:nvSpPr>
          <p:cNvPr id="854946441" name="Freeform 56"/>
          <p:cNvSpPr/>
          <p:nvPr/>
        </p:nvSpPr>
        <p:spPr bwMode="auto">
          <a:xfrm rot="0" flipH="0" flipV="0">
            <a:off x="9487373" y="3515690"/>
            <a:ext cx="1414410" cy="1299230"/>
          </a:xfrm>
          <a:custGeom>
            <a:avLst/>
            <a:gdLst/>
            <a:ahLst/>
            <a:cxnLst/>
            <a:rect l="l" t="t" r="r" b="b"/>
            <a:pathLst>
              <a:path w="1414410" h="1299230" fill="norm" stroke="1" extrusionOk="0">
                <a:moveTo>
                  <a:pt x="0" y="0"/>
                </a:moveTo>
                <a:lnTo>
                  <a:pt x="1414410" y="0"/>
                </a:lnTo>
                <a:lnTo>
                  <a:pt x="1414410" y="1299230"/>
                </a:lnTo>
                <a:lnTo>
                  <a:pt x="0" y="12992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/>
            <a:stretch>
              <a:fillRect l="0" t="0" r="0" b="0"/>
            </a:stretch>
          </a:blipFill>
        </p:spPr>
      </p:sp>
      <p:sp>
        <p:nvSpPr>
          <p:cNvPr id="1909543852" name="Freeform 57"/>
          <p:cNvSpPr/>
          <p:nvPr/>
        </p:nvSpPr>
        <p:spPr bwMode="auto">
          <a:xfrm rot="0" flipH="0" flipV="0">
            <a:off x="10768029" y="5290939"/>
            <a:ext cx="975113" cy="1465363"/>
          </a:xfrm>
          <a:custGeom>
            <a:avLst/>
            <a:gdLst/>
            <a:ahLst/>
            <a:cxnLst/>
            <a:rect l="l" t="t" r="r" b="b"/>
            <a:pathLst>
              <a:path w="975113" h="1465363" fill="norm" stroke="1" extrusionOk="0">
                <a:moveTo>
                  <a:pt x="0" y="0"/>
                </a:moveTo>
                <a:lnTo>
                  <a:pt x="975113" y="0"/>
                </a:lnTo>
                <a:lnTo>
                  <a:pt x="975113" y="1465363"/>
                </a:lnTo>
                <a:lnTo>
                  <a:pt x="0" y="1465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/>
            <a:stretch>
              <a:fillRect l="0" t="0" r="0" b="0"/>
            </a:stretch>
          </a:blipFill>
        </p:spPr>
      </p:sp>
      <p:sp>
        <p:nvSpPr>
          <p:cNvPr id="578679729" name="Freeform 58"/>
          <p:cNvSpPr/>
          <p:nvPr/>
        </p:nvSpPr>
        <p:spPr bwMode="auto">
          <a:xfrm rot="0" flipH="0" flipV="0">
            <a:off x="9300211" y="6958702"/>
            <a:ext cx="1707769" cy="1236936"/>
          </a:xfrm>
          <a:custGeom>
            <a:avLst/>
            <a:gdLst/>
            <a:ahLst/>
            <a:cxnLst/>
            <a:rect l="l" t="t" r="r" b="b"/>
            <a:pathLst>
              <a:path w="1707769" h="1236936" fill="norm" stroke="1" extrusionOk="0">
                <a:moveTo>
                  <a:pt x="0" y="0"/>
                </a:moveTo>
                <a:lnTo>
                  <a:pt x="1707770" y="0"/>
                </a:lnTo>
                <a:lnTo>
                  <a:pt x="1707770" y="1236936"/>
                </a:lnTo>
                <a:lnTo>
                  <a:pt x="0" y="1236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/>
            <a:stretch>
              <a:fillRect l="0" t="0" r="0" b="0"/>
            </a:stretch>
          </a:blipFill>
        </p:spPr>
      </p:sp>
      <p:sp>
        <p:nvSpPr>
          <p:cNvPr id="968962480" name="Freeform 59"/>
          <p:cNvSpPr/>
          <p:nvPr/>
        </p:nvSpPr>
        <p:spPr bwMode="auto">
          <a:xfrm rot="0" flipH="0" flipV="0">
            <a:off x="11007981" y="-18881"/>
            <a:ext cx="7114271" cy="3046125"/>
          </a:xfrm>
          <a:custGeom>
            <a:avLst/>
            <a:gdLst/>
            <a:ahLst/>
            <a:cxnLst/>
            <a:rect l="l" t="t" r="r" b="b"/>
            <a:pathLst>
              <a:path w="7114271" h="3046125" fill="norm" stroke="1" extrusionOk="0">
                <a:moveTo>
                  <a:pt x="0" y="0"/>
                </a:moveTo>
                <a:lnTo>
                  <a:pt x="7114271" y="0"/>
                </a:lnTo>
                <a:lnTo>
                  <a:pt x="7114271" y="3046125"/>
                </a:lnTo>
                <a:lnTo>
                  <a:pt x="0" y="3046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/>
            <a:stretch>
              <a:fillRect l="-1492" t="-37207" r="0" b="-37206"/>
            </a:stretch>
          </a:blipFill>
        </p:spPr>
      </p:sp>
      <p:sp>
        <p:nvSpPr>
          <p:cNvPr id="288770549" name="TextBox 60"/>
          <p:cNvSpPr txBox="1"/>
          <p:nvPr/>
        </p:nvSpPr>
        <p:spPr bwMode="auto">
          <a:xfrm rot="0">
            <a:off x="2953934" y="3123690"/>
            <a:ext cx="300897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Air Pollution</a:t>
            </a:r>
            <a:endParaRPr/>
          </a:p>
        </p:txBody>
      </p:sp>
      <p:sp>
        <p:nvSpPr>
          <p:cNvPr id="421028343" name="TextBox 61"/>
          <p:cNvSpPr txBox="1"/>
          <p:nvPr/>
        </p:nvSpPr>
        <p:spPr bwMode="auto">
          <a:xfrm rot="0">
            <a:off x="2953934" y="3644185"/>
            <a:ext cx="3484886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  <a:defRPr/>
            </a:pPr>
            <a:r>
              <a:rPr lang="en-US" sz="2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</a:rPr>
              <a:t> Rotting waste releases CH4, CO2, and other bad odours.</a:t>
            </a:r>
            <a:endParaRPr/>
          </a:p>
          <a:p>
            <a:pPr algn="l">
              <a:lnSpc>
                <a:spcPts val="3079"/>
              </a:lnSpc>
              <a:defRPr/>
            </a:pPr>
            <a:endParaRPr lang="en-US" sz="2200">
              <a:solidFill>
                <a:srgbClr val="000000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3079"/>
              </a:lnSpc>
              <a:defRPr/>
            </a:pPr>
            <a:endParaRPr lang="en-US" sz="2200">
              <a:solidFill>
                <a:srgbClr val="000000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739038347" name="TextBox 62"/>
          <p:cNvSpPr txBox="1"/>
          <p:nvPr/>
        </p:nvSpPr>
        <p:spPr bwMode="auto">
          <a:xfrm rot="0">
            <a:off x="1700389" y="3409235"/>
            <a:ext cx="82526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</a:rPr>
              <a:t>01</a:t>
            </a:r>
            <a:endParaRPr/>
          </a:p>
        </p:txBody>
      </p:sp>
      <p:sp>
        <p:nvSpPr>
          <p:cNvPr id="1890541665" name="TextBox 63"/>
          <p:cNvSpPr txBox="1"/>
          <p:nvPr/>
        </p:nvSpPr>
        <p:spPr bwMode="auto">
          <a:xfrm rot="0">
            <a:off x="12327448" y="3123690"/>
            <a:ext cx="300897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Land Degradation</a:t>
            </a:r>
            <a:endParaRPr/>
          </a:p>
        </p:txBody>
      </p:sp>
      <p:sp>
        <p:nvSpPr>
          <p:cNvPr id="979491033" name="TextBox 64"/>
          <p:cNvSpPr txBox="1"/>
          <p:nvPr/>
        </p:nvSpPr>
        <p:spPr bwMode="auto">
          <a:xfrm rot="0">
            <a:off x="12327448" y="3644185"/>
            <a:ext cx="3008970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  <a:defRPr/>
            </a:pPr>
            <a:r>
              <a:rPr lang="en-US" sz="2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</a:rPr>
              <a:t>Large areas remains occupied and contaminated for years.</a:t>
            </a:r>
            <a:endParaRPr/>
          </a:p>
        </p:txBody>
      </p:sp>
      <p:sp>
        <p:nvSpPr>
          <p:cNvPr id="1685907312" name="TextBox 65"/>
          <p:cNvSpPr txBox="1"/>
          <p:nvPr/>
        </p:nvSpPr>
        <p:spPr bwMode="auto">
          <a:xfrm rot="0">
            <a:off x="15751725" y="3409235"/>
            <a:ext cx="82526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</a:rPr>
              <a:t>04</a:t>
            </a:r>
            <a:endParaRPr/>
          </a:p>
        </p:txBody>
      </p:sp>
      <p:sp>
        <p:nvSpPr>
          <p:cNvPr id="514733155" name="TextBox 66"/>
          <p:cNvSpPr txBox="1"/>
          <p:nvPr/>
        </p:nvSpPr>
        <p:spPr bwMode="auto">
          <a:xfrm rot="0">
            <a:off x="11926953" y="7653370"/>
            <a:ext cx="3409465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Impact on Community</a:t>
            </a:r>
            <a:endParaRPr/>
          </a:p>
        </p:txBody>
      </p:sp>
      <p:sp>
        <p:nvSpPr>
          <p:cNvPr id="510964613" name="TextBox 67"/>
          <p:cNvSpPr txBox="1"/>
          <p:nvPr/>
        </p:nvSpPr>
        <p:spPr bwMode="auto">
          <a:xfrm rot="0">
            <a:off x="12327448" y="8177967"/>
            <a:ext cx="3008970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  <a:defRPr/>
            </a:pPr>
            <a:r>
              <a:rPr lang="en-US" sz="2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</a:rPr>
              <a:t>Foul smell, pests and pollution affect the quality of life .</a:t>
            </a:r>
            <a:endParaRPr/>
          </a:p>
        </p:txBody>
      </p:sp>
      <p:sp>
        <p:nvSpPr>
          <p:cNvPr id="1559461005" name="TextBox 68"/>
          <p:cNvSpPr txBox="1"/>
          <p:nvPr/>
        </p:nvSpPr>
        <p:spPr bwMode="auto">
          <a:xfrm rot="0">
            <a:off x="15751725" y="7943017"/>
            <a:ext cx="82526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</a:rPr>
              <a:t>06</a:t>
            </a:r>
            <a:endParaRPr/>
          </a:p>
        </p:txBody>
      </p:sp>
      <p:sp>
        <p:nvSpPr>
          <p:cNvPr id="2122042301" name="TextBox 69"/>
          <p:cNvSpPr txBox="1"/>
          <p:nvPr/>
        </p:nvSpPr>
        <p:spPr bwMode="auto">
          <a:xfrm rot="0">
            <a:off x="12870680" y="5391997"/>
            <a:ext cx="300897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Overflowing Waste </a:t>
            </a:r>
            <a:endParaRPr/>
          </a:p>
        </p:txBody>
      </p:sp>
      <p:sp>
        <p:nvSpPr>
          <p:cNvPr id="1951995491" name="TextBox 70"/>
          <p:cNvSpPr txBox="1"/>
          <p:nvPr/>
        </p:nvSpPr>
        <p:spPr bwMode="auto">
          <a:xfrm rot="0">
            <a:off x="12870680" y="5912492"/>
            <a:ext cx="3008970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  <a:defRPr/>
            </a:pPr>
            <a:r>
              <a:rPr lang="en-US" sz="2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</a:rPr>
              <a:t>Dump yards recieve massive amounts of waste everyday.</a:t>
            </a:r>
            <a:endParaRPr/>
          </a:p>
        </p:txBody>
      </p:sp>
      <p:sp>
        <p:nvSpPr>
          <p:cNvPr id="945125382" name="TextBox 71"/>
          <p:cNvSpPr txBox="1"/>
          <p:nvPr/>
        </p:nvSpPr>
        <p:spPr bwMode="auto">
          <a:xfrm rot="0">
            <a:off x="16294958" y="5712570"/>
            <a:ext cx="82526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</a:rPr>
              <a:t>05</a:t>
            </a:r>
            <a:endParaRPr/>
          </a:p>
        </p:txBody>
      </p:sp>
      <p:sp>
        <p:nvSpPr>
          <p:cNvPr id="1799628824" name="TextBox 72"/>
          <p:cNvSpPr txBox="1"/>
          <p:nvPr/>
        </p:nvSpPr>
        <p:spPr bwMode="auto">
          <a:xfrm rot="0">
            <a:off x="2953934" y="7658252"/>
            <a:ext cx="300897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Health Risks </a:t>
            </a:r>
            <a:endParaRPr/>
          </a:p>
        </p:txBody>
      </p:sp>
      <p:sp>
        <p:nvSpPr>
          <p:cNvPr id="973717702" name="TextBox 73"/>
          <p:cNvSpPr txBox="1"/>
          <p:nvPr/>
        </p:nvSpPr>
        <p:spPr bwMode="auto">
          <a:xfrm rot="0">
            <a:off x="2953934" y="8178747"/>
            <a:ext cx="3008970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  <a:defRPr/>
            </a:pPr>
            <a:r>
              <a:rPr lang="en-US" sz="2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</a:rPr>
              <a:t>Nearby residents face eye, throat and respiratory infections .</a:t>
            </a:r>
            <a:endParaRPr/>
          </a:p>
        </p:txBody>
      </p:sp>
      <p:sp>
        <p:nvSpPr>
          <p:cNvPr id="1061426023" name="TextBox 74"/>
          <p:cNvSpPr txBox="1"/>
          <p:nvPr/>
        </p:nvSpPr>
        <p:spPr bwMode="auto">
          <a:xfrm rot="0">
            <a:off x="1700389" y="7943797"/>
            <a:ext cx="82526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</a:rPr>
              <a:t>03</a:t>
            </a:r>
            <a:endParaRPr/>
          </a:p>
        </p:txBody>
      </p:sp>
      <p:sp>
        <p:nvSpPr>
          <p:cNvPr id="668510476" name="TextBox 75"/>
          <p:cNvSpPr txBox="1"/>
          <p:nvPr/>
        </p:nvSpPr>
        <p:spPr bwMode="auto">
          <a:xfrm rot="0">
            <a:off x="2421328" y="5391997"/>
            <a:ext cx="300897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Water Pollution</a:t>
            </a:r>
            <a:endParaRPr/>
          </a:p>
        </p:txBody>
      </p:sp>
      <p:sp>
        <p:nvSpPr>
          <p:cNvPr id="360753313" name="TextBox 76"/>
          <p:cNvSpPr txBox="1"/>
          <p:nvPr/>
        </p:nvSpPr>
        <p:spPr bwMode="auto">
          <a:xfrm rot="0">
            <a:off x="2421328" y="5912492"/>
            <a:ext cx="3008970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  <a:defRPr/>
            </a:pPr>
            <a:r>
              <a:rPr lang="en-US" sz="2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</a:rPr>
              <a:t>Rainwater passing through garbage , creating toxic leachate.</a:t>
            </a:r>
            <a:endParaRPr/>
          </a:p>
        </p:txBody>
      </p:sp>
      <p:sp>
        <p:nvSpPr>
          <p:cNvPr id="2041258973" name="TextBox 77"/>
          <p:cNvSpPr txBox="1"/>
          <p:nvPr/>
        </p:nvSpPr>
        <p:spPr bwMode="auto">
          <a:xfrm rot="0">
            <a:off x="1167783" y="5677542"/>
            <a:ext cx="825260" cy="40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</a:rPr>
              <a:t>02</a:t>
            </a:r>
            <a:endParaRPr/>
          </a:p>
        </p:txBody>
      </p:sp>
      <p:sp>
        <p:nvSpPr>
          <p:cNvPr id="296507722" name="TextBox 78"/>
          <p:cNvSpPr txBox="1"/>
          <p:nvPr/>
        </p:nvSpPr>
        <p:spPr bwMode="auto">
          <a:xfrm rot="0">
            <a:off x="0" y="86471"/>
            <a:ext cx="11039871" cy="167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7"/>
              </a:lnSpc>
              <a:defRPr/>
            </a:pPr>
            <a:r>
              <a:rPr lang="en-US" sz="4800">
                <a:solidFill>
                  <a:srgbClr val="0B3724"/>
                </a:solidFill>
                <a:latin typeface="Lexend Deca"/>
                <a:ea typeface="Lexend Deca"/>
                <a:cs typeface="Lexend Deca"/>
              </a:rPr>
              <a:t>THE PROBLEMS WITH </a:t>
            </a:r>
            <a:endParaRPr/>
          </a:p>
          <a:p>
            <a:pPr algn="ctr">
              <a:lnSpc>
                <a:spcPts val="6717"/>
              </a:lnSpc>
              <a:spcBef>
                <a:spcPts val="0"/>
              </a:spcBef>
              <a:defRPr/>
            </a:pPr>
            <a:r>
              <a:rPr lang="en-US" sz="4800">
                <a:solidFill>
                  <a:srgbClr val="0B3724"/>
                </a:solidFill>
                <a:latin typeface="Lexend Deca"/>
                <a:ea typeface="Lexend Deca"/>
                <a:cs typeface="Lexend Deca"/>
              </a:rPr>
              <a:t>DUMP YARDS</a:t>
            </a:r>
            <a:endParaRPr/>
          </a:p>
        </p:txBody>
      </p:sp>
      <p:sp>
        <p:nvSpPr>
          <p:cNvPr id="239779229" name="TextBox 79"/>
          <p:cNvSpPr txBox="1"/>
          <p:nvPr/>
        </p:nvSpPr>
        <p:spPr bwMode="auto">
          <a:xfrm rot="0">
            <a:off x="34567" y="1980706"/>
            <a:ext cx="10970737" cy="884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Dump yards are not just piles of waste - they are a grown</a:t>
            </a:r>
            <a:endParaRPr/>
          </a:p>
          <a:p>
            <a:pPr algn="ctr">
              <a:lnSpc>
                <a:spcPts val="3359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crisis for our environment, health &amp; cities.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93C28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27316615" name="Group 2"/>
          <p:cNvGrpSpPr/>
          <p:nvPr/>
        </p:nvGrpSpPr>
        <p:grpSpPr bwMode="auto">
          <a:xfrm rot="0">
            <a:off x="5863646" y="3570281"/>
            <a:ext cx="2763001" cy="5651869"/>
            <a:chOff x="0" y="0"/>
            <a:chExt cx="660400" cy="1350884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 fill="norm" stroke="1" extrusionOk="0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CBE6B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660400" cy="12619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  <a:defRPr/>
              </a:pPr>
              <a:endParaRPr/>
            </a:p>
          </p:txBody>
        </p:sp>
      </p:grpSp>
      <p:grpSp>
        <p:nvGrpSpPr>
          <p:cNvPr id="1296202186" name="Group 5"/>
          <p:cNvGrpSpPr/>
          <p:nvPr/>
        </p:nvGrpSpPr>
        <p:grpSpPr bwMode="auto">
          <a:xfrm rot="0">
            <a:off x="2070607" y="3570281"/>
            <a:ext cx="2763001" cy="5651869"/>
            <a:chOff x="0" y="0"/>
            <a:chExt cx="660400" cy="1350884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 fill="norm" stroke="1" extrusionOk="0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CBE6BA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660400" cy="12619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  <a:defRPr/>
              </a:pPr>
              <a:endParaRPr/>
            </a:p>
          </p:txBody>
        </p:sp>
      </p:grpSp>
      <p:sp>
        <p:nvSpPr>
          <p:cNvPr id="1189628993" name="Freeform 8"/>
          <p:cNvSpPr/>
          <p:nvPr/>
        </p:nvSpPr>
        <p:spPr bwMode="auto">
          <a:xfrm rot="0" flipH="0" flipV="0">
            <a:off x="1778274" y="3504619"/>
            <a:ext cx="3347666" cy="905604"/>
          </a:xfrm>
          <a:custGeom>
            <a:avLst/>
            <a:gdLst/>
            <a:ahLst/>
            <a:cxnLst/>
            <a:rect l="l" t="t" r="r" b="b"/>
            <a:pathLst>
              <a:path w="3347666" h="905604" fill="norm" stroke="1" extrusionOk="0">
                <a:moveTo>
                  <a:pt x="0" y="0"/>
                </a:moveTo>
                <a:lnTo>
                  <a:pt x="3347666" y="0"/>
                </a:lnTo>
                <a:lnTo>
                  <a:pt x="3347666" y="905604"/>
                </a:lnTo>
                <a:lnTo>
                  <a:pt x="0" y="905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l="0" t="-107472" r="0" b="0"/>
            </a:stretch>
          </a:blipFill>
          <a:ln cap="sq">
            <a:noFill/>
            <a:prstDash val="solid"/>
            <a:miter/>
          </a:ln>
        </p:spPr>
      </p:sp>
      <p:sp>
        <p:nvSpPr>
          <p:cNvPr id="1980557026" name="Freeform 9"/>
          <p:cNvSpPr/>
          <p:nvPr/>
        </p:nvSpPr>
        <p:spPr bwMode="auto">
          <a:xfrm rot="0" flipH="0" flipV="0">
            <a:off x="5571314" y="3504619"/>
            <a:ext cx="3347666" cy="905604"/>
          </a:xfrm>
          <a:custGeom>
            <a:avLst/>
            <a:gdLst/>
            <a:ahLst/>
            <a:cxnLst/>
            <a:rect l="l" t="t" r="r" b="b"/>
            <a:pathLst>
              <a:path w="3347666" h="905604" fill="norm" stroke="1" extrusionOk="0">
                <a:moveTo>
                  <a:pt x="0" y="0"/>
                </a:moveTo>
                <a:lnTo>
                  <a:pt x="3347666" y="0"/>
                </a:lnTo>
                <a:lnTo>
                  <a:pt x="3347666" y="905604"/>
                </a:lnTo>
                <a:lnTo>
                  <a:pt x="0" y="905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l="0" t="-107472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303658354" name="Group 10"/>
          <p:cNvGrpSpPr/>
          <p:nvPr/>
        </p:nvGrpSpPr>
        <p:grpSpPr bwMode="auto">
          <a:xfrm rot="0">
            <a:off x="9656686" y="3570281"/>
            <a:ext cx="2763001" cy="5651869"/>
            <a:chOff x="0" y="0"/>
            <a:chExt cx="660400" cy="1350884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 fill="norm" stroke="1" extrusionOk="0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CBE6BA"/>
            </a:solidFill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0" y="-38100"/>
              <a:ext cx="660400" cy="12619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  <a:defRPr/>
              </a:pPr>
              <a:endParaRPr/>
            </a:p>
          </p:txBody>
        </p:sp>
      </p:grpSp>
      <p:grpSp>
        <p:nvGrpSpPr>
          <p:cNvPr id="313191120" name="Group 13"/>
          <p:cNvGrpSpPr/>
          <p:nvPr/>
        </p:nvGrpSpPr>
        <p:grpSpPr bwMode="auto">
          <a:xfrm rot="0">
            <a:off x="13449724" y="3570281"/>
            <a:ext cx="2763001" cy="5651869"/>
            <a:chOff x="0" y="0"/>
            <a:chExt cx="660400" cy="1350884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 fill="norm" stroke="1" extrusionOk="0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CBE6BA"/>
            </a:solid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38100"/>
              <a:ext cx="660400" cy="12619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  <a:defRPr/>
              </a:pPr>
              <a:endParaRPr/>
            </a:p>
          </p:txBody>
        </p:sp>
      </p:grpSp>
      <p:sp>
        <p:nvSpPr>
          <p:cNvPr id="1322481593" name="Freeform 16"/>
          <p:cNvSpPr/>
          <p:nvPr/>
        </p:nvSpPr>
        <p:spPr bwMode="auto">
          <a:xfrm rot="0" flipH="0" flipV="0">
            <a:off x="9364353" y="3504619"/>
            <a:ext cx="3347666" cy="905604"/>
          </a:xfrm>
          <a:custGeom>
            <a:avLst/>
            <a:gdLst/>
            <a:ahLst/>
            <a:cxnLst/>
            <a:rect l="l" t="t" r="r" b="b"/>
            <a:pathLst>
              <a:path w="3347666" h="905604" fill="norm" stroke="1" extrusionOk="0">
                <a:moveTo>
                  <a:pt x="0" y="0"/>
                </a:moveTo>
                <a:lnTo>
                  <a:pt x="3347666" y="0"/>
                </a:lnTo>
                <a:lnTo>
                  <a:pt x="3347666" y="905604"/>
                </a:lnTo>
                <a:lnTo>
                  <a:pt x="0" y="905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l="0" t="-107472" r="0" b="0"/>
            </a:stretch>
          </a:blipFill>
          <a:ln cap="sq">
            <a:noFill/>
            <a:prstDash val="solid"/>
            <a:miter/>
          </a:ln>
        </p:spPr>
      </p:sp>
      <p:sp>
        <p:nvSpPr>
          <p:cNvPr id="299281300" name="Freeform 17"/>
          <p:cNvSpPr/>
          <p:nvPr/>
        </p:nvSpPr>
        <p:spPr bwMode="auto">
          <a:xfrm rot="0" flipH="0" flipV="0">
            <a:off x="13157393" y="3504619"/>
            <a:ext cx="3347666" cy="905604"/>
          </a:xfrm>
          <a:custGeom>
            <a:avLst/>
            <a:gdLst/>
            <a:ahLst/>
            <a:cxnLst/>
            <a:rect l="l" t="t" r="r" b="b"/>
            <a:pathLst>
              <a:path w="3347666" h="905604" fill="norm" stroke="1" extrusionOk="0">
                <a:moveTo>
                  <a:pt x="0" y="0"/>
                </a:moveTo>
                <a:lnTo>
                  <a:pt x="3347666" y="0"/>
                </a:lnTo>
                <a:lnTo>
                  <a:pt x="3347666" y="905604"/>
                </a:lnTo>
                <a:lnTo>
                  <a:pt x="0" y="905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l="0" t="-107472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id="258132058" name="Group 18"/>
          <p:cNvGrpSpPr/>
          <p:nvPr/>
        </p:nvGrpSpPr>
        <p:grpSpPr bwMode="auto">
          <a:xfrm rot="0">
            <a:off x="1778274" y="3283566"/>
            <a:ext cx="3352333" cy="498797"/>
            <a:chOff x="0" y="0"/>
            <a:chExt cx="972175" cy="144651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 fill="norm" stroke="1" extrusionOk="0">
                  <a:moveTo>
                    <a:pt x="48498" y="0"/>
                  </a:moveTo>
                  <a:lnTo>
                    <a:pt x="923677" y="0"/>
                  </a:lnTo>
                  <a:cubicBezTo>
                    <a:pt x="950462" y="0"/>
                    <a:pt x="972175" y="21713"/>
                    <a:pt x="972175" y="48498"/>
                  </a:cubicBezTo>
                  <a:lnTo>
                    <a:pt x="972175" y="96153"/>
                  </a:lnTo>
                  <a:cubicBezTo>
                    <a:pt x="972175" y="109016"/>
                    <a:pt x="967065" y="121351"/>
                    <a:pt x="957970" y="130446"/>
                  </a:cubicBezTo>
                  <a:cubicBezTo>
                    <a:pt x="948875" y="139541"/>
                    <a:pt x="936540" y="144651"/>
                    <a:pt x="923677" y="144651"/>
                  </a:cubicBezTo>
                  <a:lnTo>
                    <a:pt x="48498" y="144651"/>
                  </a:lnTo>
                  <a:cubicBezTo>
                    <a:pt x="21713" y="144651"/>
                    <a:pt x="0" y="122938"/>
                    <a:pt x="0" y="96153"/>
                  </a:cubicBezTo>
                  <a:lnTo>
                    <a:pt x="0" y="48498"/>
                  </a:lnTo>
                  <a:cubicBezTo>
                    <a:pt x="0" y="35635"/>
                    <a:pt x="5110" y="23300"/>
                    <a:pt x="14205" y="14205"/>
                  </a:cubicBezTo>
                  <a:cubicBezTo>
                    <a:pt x="23300" y="5110"/>
                    <a:pt x="35635" y="0"/>
                    <a:pt x="4849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972175" cy="18275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  <a:defRPr/>
              </a:pPr>
              <a:endParaRPr/>
            </a:p>
          </p:txBody>
        </p:sp>
      </p:grpSp>
      <p:grpSp>
        <p:nvGrpSpPr>
          <p:cNvPr id="644069564" name="Group 21"/>
          <p:cNvGrpSpPr/>
          <p:nvPr/>
        </p:nvGrpSpPr>
        <p:grpSpPr bwMode="auto">
          <a:xfrm rot="0">
            <a:off x="5571314" y="3283566"/>
            <a:ext cx="3352333" cy="498797"/>
            <a:chOff x="0" y="0"/>
            <a:chExt cx="972175" cy="144651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 fill="norm" stroke="1" extrusionOk="0">
                  <a:moveTo>
                    <a:pt x="48498" y="0"/>
                  </a:moveTo>
                  <a:lnTo>
                    <a:pt x="923677" y="0"/>
                  </a:lnTo>
                  <a:cubicBezTo>
                    <a:pt x="950462" y="0"/>
                    <a:pt x="972175" y="21713"/>
                    <a:pt x="972175" y="48498"/>
                  </a:cubicBezTo>
                  <a:lnTo>
                    <a:pt x="972175" y="96153"/>
                  </a:lnTo>
                  <a:cubicBezTo>
                    <a:pt x="972175" y="109016"/>
                    <a:pt x="967065" y="121351"/>
                    <a:pt x="957970" y="130446"/>
                  </a:cubicBezTo>
                  <a:cubicBezTo>
                    <a:pt x="948875" y="139541"/>
                    <a:pt x="936540" y="144651"/>
                    <a:pt x="923677" y="144651"/>
                  </a:cubicBezTo>
                  <a:lnTo>
                    <a:pt x="48498" y="144651"/>
                  </a:lnTo>
                  <a:cubicBezTo>
                    <a:pt x="21713" y="144651"/>
                    <a:pt x="0" y="122938"/>
                    <a:pt x="0" y="96153"/>
                  </a:cubicBezTo>
                  <a:lnTo>
                    <a:pt x="0" y="48498"/>
                  </a:lnTo>
                  <a:cubicBezTo>
                    <a:pt x="0" y="35635"/>
                    <a:pt x="5110" y="23300"/>
                    <a:pt x="14205" y="14205"/>
                  </a:cubicBezTo>
                  <a:cubicBezTo>
                    <a:pt x="23300" y="5110"/>
                    <a:pt x="35635" y="0"/>
                    <a:pt x="4849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0" y="-38100"/>
              <a:ext cx="972175" cy="18275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  <a:defRPr/>
              </a:pPr>
              <a:endParaRPr/>
            </a:p>
          </p:txBody>
        </p:sp>
      </p:grpSp>
      <p:grpSp>
        <p:nvGrpSpPr>
          <p:cNvPr id="404118025" name="Group 24"/>
          <p:cNvGrpSpPr/>
          <p:nvPr/>
        </p:nvGrpSpPr>
        <p:grpSpPr bwMode="auto">
          <a:xfrm rot="0">
            <a:off x="9364353" y="3283566"/>
            <a:ext cx="3352333" cy="498797"/>
            <a:chOff x="0" y="0"/>
            <a:chExt cx="972175" cy="144651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 fill="norm" stroke="1" extrusionOk="0">
                  <a:moveTo>
                    <a:pt x="48498" y="0"/>
                  </a:moveTo>
                  <a:lnTo>
                    <a:pt x="923677" y="0"/>
                  </a:lnTo>
                  <a:cubicBezTo>
                    <a:pt x="950462" y="0"/>
                    <a:pt x="972175" y="21713"/>
                    <a:pt x="972175" y="48498"/>
                  </a:cubicBezTo>
                  <a:lnTo>
                    <a:pt x="972175" y="96153"/>
                  </a:lnTo>
                  <a:cubicBezTo>
                    <a:pt x="972175" y="109016"/>
                    <a:pt x="967065" y="121351"/>
                    <a:pt x="957970" y="130446"/>
                  </a:cubicBezTo>
                  <a:cubicBezTo>
                    <a:pt x="948875" y="139541"/>
                    <a:pt x="936540" y="144651"/>
                    <a:pt x="923677" y="144651"/>
                  </a:cubicBezTo>
                  <a:lnTo>
                    <a:pt x="48498" y="144651"/>
                  </a:lnTo>
                  <a:cubicBezTo>
                    <a:pt x="21713" y="144651"/>
                    <a:pt x="0" y="122938"/>
                    <a:pt x="0" y="96153"/>
                  </a:cubicBezTo>
                  <a:lnTo>
                    <a:pt x="0" y="48498"/>
                  </a:lnTo>
                  <a:cubicBezTo>
                    <a:pt x="0" y="35635"/>
                    <a:pt x="5110" y="23300"/>
                    <a:pt x="14205" y="14205"/>
                  </a:cubicBezTo>
                  <a:cubicBezTo>
                    <a:pt x="23300" y="5110"/>
                    <a:pt x="35635" y="0"/>
                    <a:pt x="4849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0" y="-38100"/>
              <a:ext cx="972175" cy="18275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  <a:defRPr/>
              </a:pPr>
              <a:endParaRPr/>
            </a:p>
          </p:txBody>
        </p:sp>
      </p:grpSp>
      <p:grpSp>
        <p:nvGrpSpPr>
          <p:cNvPr id="373817977" name="Group 27"/>
          <p:cNvGrpSpPr/>
          <p:nvPr/>
        </p:nvGrpSpPr>
        <p:grpSpPr bwMode="auto">
          <a:xfrm rot="0">
            <a:off x="13157393" y="3283566"/>
            <a:ext cx="3352333" cy="498797"/>
            <a:chOff x="0" y="0"/>
            <a:chExt cx="972175" cy="144651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 fill="norm" stroke="1" extrusionOk="0">
                  <a:moveTo>
                    <a:pt x="48498" y="0"/>
                  </a:moveTo>
                  <a:lnTo>
                    <a:pt x="923677" y="0"/>
                  </a:lnTo>
                  <a:cubicBezTo>
                    <a:pt x="950462" y="0"/>
                    <a:pt x="972175" y="21713"/>
                    <a:pt x="972175" y="48498"/>
                  </a:cubicBezTo>
                  <a:lnTo>
                    <a:pt x="972175" y="96153"/>
                  </a:lnTo>
                  <a:cubicBezTo>
                    <a:pt x="972175" y="109016"/>
                    <a:pt x="967065" y="121351"/>
                    <a:pt x="957970" y="130446"/>
                  </a:cubicBezTo>
                  <a:cubicBezTo>
                    <a:pt x="948875" y="139541"/>
                    <a:pt x="936540" y="144651"/>
                    <a:pt x="923677" y="144651"/>
                  </a:cubicBezTo>
                  <a:lnTo>
                    <a:pt x="48498" y="144651"/>
                  </a:lnTo>
                  <a:cubicBezTo>
                    <a:pt x="21713" y="144651"/>
                    <a:pt x="0" y="122938"/>
                    <a:pt x="0" y="96153"/>
                  </a:cubicBezTo>
                  <a:lnTo>
                    <a:pt x="0" y="48498"/>
                  </a:lnTo>
                  <a:cubicBezTo>
                    <a:pt x="0" y="35635"/>
                    <a:pt x="5110" y="23300"/>
                    <a:pt x="14205" y="14205"/>
                  </a:cubicBezTo>
                  <a:cubicBezTo>
                    <a:pt x="23300" y="5110"/>
                    <a:pt x="35635" y="0"/>
                    <a:pt x="4849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TextBox 29"/>
            <p:cNvSpPr txBox="1"/>
            <p:nvPr/>
          </p:nvSpPr>
          <p:spPr bwMode="auto">
            <a:xfrm>
              <a:off x="0" y="-38100"/>
              <a:ext cx="972175" cy="18275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  <a:defRPr/>
              </a:pPr>
              <a:endParaRPr/>
            </a:p>
          </p:txBody>
        </p:sp>
      </p:grpSp>
      <p:sp>
        <p:nvSpPr>
          <p:cNvPr id="1874203120" name="Freeform 30"/>
          <p:cNvSpPr/>
          <p:nvPr/>
        </p:nvSpPr>
        <p:spPr bwMode="auto">
          <a:xfrm rot="0" flipH="0" flipV="0">
            <a:off x="2183850" y="6822023"/>
            <a:ext cx="2541181" cy="1647668"/>
          </a:xfrm>
          <a:custGeom>
            <a:avLst/>
            <a:gdLst/>
            <a:ahLst/>
            <a:cxnLst/>
            <a:rect l="l" t="t" r="r" b="b"/>
            <a:pathLst>
              <a:path w="2541181" h="1647668" fill="norm" stroke="1" extrusionOk="0">
                <a:moveTo>
                  <a:pt x="0" y="0"/>
                </a:moveTo>
                <a:lnTo>
                  <a:pt x="2541181" y="0"/>
                </a:lnTo>
                <a:lnTo>
                  <a:pt x="2541181" y="1647668"/>
                </a:lnTo>
                <a:lnTo>
                  <a:pt x="0" y="1647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-41197" t="0" r="-41197" b="0"/>
            </a:stretch>
          </a:blipFill>
        </p:spPr>
      </p:sp>
      <p:sp>
        <p:nvSpPr>
          <p:cNvPr id="962684354" name="Freeform 31"/>
          <p:cNvSpPr/>
          <p:nvPr/>
        </p:nvSpPr>
        <p:spPr bwMode="auto">
          <a:xfrm rot="0" flipH="0" flipV="0">
            <a:off x="5933607" y="6772255"/>
            <a:ext cx="2623079" cy="1684582"/>
          </a:xfrm>
          <a:custGeom>
            <a:avLst/>
            <a:gdLst/>
            <a:ahLst/>
            <a:cxnLst/>
            <a:rect l="l" t="t" r="r" b="b"/>
            <a:pathLst>
              <a:path w="2623079" h="1684582" fill="norm" stroke="1" extrusionOk="0">
                <a:moveTo>
                  <a:pt x="0" y="0"/>
                </a:moveTo>
                <a:lnTo>
                  <a:pt x="2623079" y="0"/>
                </a:lnTo>
                <a:lnTo>
                  <a:pt x="2623079" y="1684582"/>
                </a:lnTo>
                <a:lnTo>
                  <a:pt x="0" y="168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-15271" t="0" r="-21680" b="0"/>
            </a:stretch>
          </a:blipFill>
        </p:spPr>
      </p:sp>
      <p:sp>
        <p:nvSpPr>
          <p:cNvPr id="1699196199" name="Freeform 32"/>
          <p:cNvSpPr/>
          <p:nvPr/>
        </p:nvSpPr>
        <p:spPr bwMode="auto">
          <a:xfrm rot="0" flipH="0" flipV="0">
            <a:off x="9936457" y="6669636"/>
            <a:ext cx="2086926" cy="2157669"/>
          </a:xfrm>
          <a:custGeom>
            <a:avLst/>
            <a:gdLst/>
            <a:ahLst/>
            <a:cxnLst/>
            <a:rect l="l" t="t" r="r" b="b"/>
            <a:pathLst>
              <a:path w="2086926" h="2157669" fill="norm" stroke="1" extrusionOk="0">
                <a:moveTo>
                  <a:pt x="0" y="0"/>
                </a:moveTo>
                <a:lnTo>
                  <a:pt x="2086925" y="0"/>
                </a:lnTo>
                <a:lnTo>
                  <a:pt x="2086925" y="2157668"/>
                </a:lnTo>
                <a:lnTo>
                  <a:pt x="0" y="2157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1229704475" name="Freeform 33"/>
          <p:cNvSpPr/>
          <p:nvPr/>
        </p:nvSpPr>
        <p:spPr bwMode="auto">
          <a:xfrm rot="0" flipH="0" flipV="0">
            <a:off x="13628557" y="6549809"/>
            <a:ext cx="2354466" cy="1919883"/>
          </a:xfrm>
          <a:custGeom>
            <a:avLst/>
            <a:gdLst/>
            <a:ahLst/>
            <a:cxnLst/>
            <a:rect l="l" t="t" r="r" b="b"/>
            <a:pathLst>
              <a:path w="2354466" h="1919883" fill="norm" stroke="1" extrusionOk="0">
                <a:moveTo>
                  <a:pt x="0" y="0"/>
                </a:moveTo>
                <a:lnTo>
                  <a:pt x="2354467" y="0"/>
                </a:lnTo>
                <a:lnTo>
                  <a:pt x="2354467" y="1919882"/>
                </a:lnTo>
                <a:lnTo>
                  <a:pt x="0" y="19198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-11317" r="0" b="-11317"/>
            </a:stretch>
          </a:blipFill>
        </p:spPr>
      </p:sp>
      <p:sp>
        <p:nvSpPr>
          <p:cNvPr id="1904645511" name="TextBox 34"/>
          <p:cNvSpPr txBox="1"/>
          <p:nvPr/>
        </p:nvSpPr>
        <p:spPr bwMode="auto">
          <a:xfrm rot="0">
            <a:off x="2327714" y="4006392"/>
            <a:ext cx="2253453" cy="72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846"/>
              </a:lnSpc>
              <a:spcBef>
                <a:spcPts val="0"/>
              </a:spcBef>
              <a:defRPr/>
            </a:pPr>
            <a:r>
              <a:rPr lang="en-US" sz="4200" b="1" spc="133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2,479</a:t>
            </a:r>
            <a:endParaRPr/>
          </a:p>
        </p:txBody>
      </p:sp>
      <p:sp>
        <p:nvSpPr>
          <p:cNvPr id="40372145" name="TextBox 35"/>
          <p:cNvSpPr txBox="1"/>
          <p:nvPr/>
        </p:nvSpPr>
        <p:spPr bwMode="auto">
          <a:xfrm rot="0">
            <a:off x="2466364" y="5688426"/>
            <a:ext cx="1965725" cy="63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80"/>
              </a:lnSpc>
              <a:spcBef>
                <a:spcPts val="0"/>
              </a:spcBef>
              <a:defRPr/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1,000+ tonnes at each sites</a:t>
            </a:r>
            <a:endParaRPr/>
          </a:p>
        </p:txBody>
      </p:sp>
      <p:sp>
        <p:nvSpPr>
          <p:cNvPr id="562611861" name="TextBox 36"/>
          <p:cNvSpPr txBox="1"/>
          <p:nvPr/>
        </p:nvSpPr>
        <p:spPr bwMode="auto">
          <a:xfrm rot="0">
            <a:off x="5933607" y="4119782"/>
            <a:ext cx="2623079" cy="511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208"/>
              </a:lnSpc>
              <a:spcBef>
                <a:spcPts val="0"/>
              </a:spcBef>
              <a:defRPr/>
            </a:pPr>
            <a:r>
              <a:rPr lang="en-US" sz="3000" b="1" spc="95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25 Crore MT</a:t>
            </a:r>
            <a:endParaRPr/>
          </a:p>
        </p:txBody>
      </p:sp>
      <p:sp>
        <p:nvSpPr>
          <p:cNvPr id="1071524766" name="TextBox 37"/>
          <p:cNvSpPr txBox="1"/>
          <p:nvPr/>
        </p:nvSpPr>
        <p:spPr bwMode="auto">
          <a:xfrm rot="0">
            <a:off x="6259403" y="5659851"/>
            <a:ext cx="1965725" cy="81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8"/>
              </a:lnSpc>
              <a:spcBef>
                <a:spcPts val="0"/>
              </a:spcBef>
              <a:defRPr/>
            </a:pPr>
            <a:r>
              <a:rPr lang="en-US" sz="225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= 250 million tonnes</a:t>
            </a:r>
            <a:endParaRPr/>
          </a:p>
        </p:txBody>
      </p:sp>
      <p:sp>
        <p:nvSpPr>
          <p:cNvPr id="1039962344" name="TextBox 38"/>
          <p:cNvSpPr txBox="1"/>
          <p:nvPr/>
        </p:nvSpPr>
        <p:spPr bwMode="auto">
          <a:xfrm rot="0">
            <a:off x="9854814" y="4079899"/>
            <a:ext cx="2250210" cy="429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10"/>
              </a:lnSpc>
              <a:spcBef>
                <a:spcPts val="0"/>
              </a:spcBef>
              <a:defRPr/>
            </a:pPr>
            <a:r>
              <a:rPr lang="en-US" sz="2500" b="1" spc="8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15,000 Acres</a:t>
            </a:r>
            <a:endParaRPr/>
          </a:p>
        </p:txBody>
      </p:sp>
      <p:sp>
        <p:nvSpPr>
          <p:cNvPr id="1587985617" name="TextBox 39"/>
          <p:cNvSpPr txBox="1"/>
          <p:nvPr/>
        </p:nvSpPr>
        <p:spPr bwMode="auto">
          <a:xfrm rot="0">
            <a:off x="9936457" y="5798685"/>
            <a:ext cx="2249275" cy="72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9"/>
              </a:lnSpc>
              <a:spcBef>
                <a:spcPts val="0"/>
              </a:spcBef>
              <a:defRPr/>
            </a:pPr>
            <a:r>
              <a:rPr lang="en-US" sz="195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= 21,000 football grounds </a:t>
            </a:r>
            <a:endParaRPr/>
          </a:p>
        </p:txBody>
      </p:sp>
      <p:sp>
        <p:nvSpPr>
          <p:cNvPr id="173315009" name="TextBox 40"/>
          <p:cNvSpPr txBox="1"/>
          <p:nvPr/>
        </p:nvSpPr>
        <p:spPr bwMode="auto">
          <a:xfrm rot="0">
            <a:off x="13566910" y="3936600"/>
            <a:ext cx="2533298" cy="71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909"/>
              </a:lnSpc>
              <a:spcBef>
                <a:spcPts val="0"/>
              </a:spcBef>
              <a:defRPr/>
            </a:pPr>
            <a:r>
              <a:rPr lang="en-US" sz="2100" b="1" spc="66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436 MILLION TONNES</a:t>
            </a:r>
            <a:endParaRPr/>
          </a:p>
        </p:txBody>
      </p:sp>
      <p:sp>
        <p:nvSpPr>
          <p:cNvPr id="21410674" name="TextBox 41"/>
          <p:cNvSpPr txBox="1"/>
          <p:nvPr/>
        </p:nvSpPr>
        <p:spPr bwMode="auto">
          <a:xfrm rot="0">
            <a:off x="13686880" y="5879720"/>
            <a:ext cx="2237821" cy="30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19"/>
              </a:lnSpc>
              <a:spcBef>
                <a:spcPts val="0"/>
              </a:spcBef>
              <a:defRPr/>
            </a:pPr>
            <a:r>
              <a:rPr lang="en-US" sz="175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165 MT by 2030</a:t>
            </a:r>
            <a:endParaRPr/>
          </a:p>
        </p:txBody>
      </p:sp>
      <p:sp>
        <p:nvSpPr>
          <p:cNvPr id="1561746843" name="TextBox 42"/>
          <p:cNvSpPr txBox="1"/>
          <p:nvPr/>
        </p:nvSpPr>
        <p:spPr bwMode="auto">
          <a:xfrm rot="0">
            <a:off x="3541977" y="1028700"/>
            <a:ext cx="1120404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defRPr/>
            </a:pPr>
            <a:r>
              <a:rPr lang="en-US" sz="5400">
                <a:solidFill>
                  <a:srgbClr val="204A59"/>
                </a:solidFill>
                <a:latin typeface="Lexend Deca"/>
                <a:ea typeface="Lexend Deca"/>
                <a:cs typeface="Lexend Deca"/>
              </a:rPr>
              <a:t>DUMP YARDS IN INDIA</a:t>
            </a:r>
            <a:endParaRPr/>
          </a:p>
        </p:txBody>
      </p:sp>
      <p:sp>
        <p:nvSpPr>
          <p:cNvPr id="134779926" name="TextBox 43"/>
          <p:cNvSpPr txBox="1"/>
          <p:nvPr/>
        </p:nvSpPr>
        <p:spPr bwMode="auto">
          <a:xfrm rot="0">
            <a:off x="7247867" y="1985609"/>
            <a:ext cx="324230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ts val="0"/>
              </a:spcBef>
              <a:defRPr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</a:rPr>
              <a:t>~THE NUMBERS</a:t>
            </a:r>
            <a:endParaRPr/>
          </a:p>
        </p:txBody>
      </p:sp>
      <p:sp>
        <p:nvSpPr>
          <p:cNvPr id="1100155803" name="TextBox 44"/>
          <p:cNvSpPr txBox="1"/>
          <p:nvPr/>
        </p:nvSpPr>
        <p:spPr bwMode="auto">
          <a:xfrm rot="0">
            <a:off x="2366436" y="4820819"/>
            <a:ext cx="2176010" cy="775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1"/>
              </a:lnSpc>
              <a:spcBef>
                <a:spcPts val="0"/>
              </a:spcBef>
              <a:defRPr/>
            </a:pPr>
            <a:r>
              <a:rPr lang="en-US" sz="205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Dumpsites across India</a:t>
            </a:r>
            <a:endParaRPr/>
          </a:p>
        </p:txBody>
      </p:sp>
      <p:sp>
        <p:nvSpPr>
          <p:cNvPr id="1060423437" name="TextBox 45"/>
          <p:cNvSpPr txBox="1"/>
          <p:nvPr/>
        </p:nvSpPr>
        <p:spPr bwMode="auto">
          <a:xfrm rot="0">
            <a:off x="6042397" y="4780363"/>
            <a:ext cx="2405499" cy="76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  <a:spcBef>
                <a:spcPts val="0"/>
              </a:spcBef>
              <a:defRPr/>
            </a:pPr>
            <a:r>
              <a:rPr lang="en-US" sz="205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Total waste accumulated</a:t>
            </a:r>
            <a:endParaRPr/>
          </a:p>
        </p:txBody>
      </p:sp>
      <p:sp>
        <p:nvSpPr>
          <p:cNvPr id="1157539241" name="TextBox 46"/>
          <p:cNvSpPr txBox="1"/>
          <p:nvPr/>
        </p:nvSpPr>
        <p:spPr bwMode="auto">
          <a:xfrm rot="0">
            <a:off x="9762220" y="4742262"/>
            <a:ext cx="2556599" cy="77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7"/>
              </a:lnSpc>
              <a:spcBef>
                <a:spcPts val="0"/>
              </a:spcBef>
              <a:defRPr/>
            </a:pPr>
            <a:r>
              <a:rPr lang="en-US" sz="205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Land occupied by waste</a:t>
            </a:r>
            <a:endParaRPr/>
          </a:p>
        </p:txBody>
      </p:sp>
      <p:sp>
        <p:nvSpPr>
          <p:cNvPr id="395732844" name="TextBox 47"/>
          <p:cNvSpPr txBox="1"/>
          <p:nvPr/>
        </p:nvSpPr>
        <p:spPr bwMode="auto">
          <a:xfrm rot="0">
            <a:off x="13477371" y="4838684"/>
            <a:ext cx="2735355" cy="67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1"/>
              </a:lnSpc>
              <a:spcBef>
                <a:spcPts val="0"/>
              </a:spcBef>
              <a:defRPr/>
            </a:pPr>
            <a:r>
              <a:rPr lang="en-US" sz="185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Projected by waste generation by 2050</a:t>
            </a:r>
            <a:endParaRPr/>
          </a:p>
        </p:txBody>
      </p:sp>
      <p:sp>
        <p:nvSpPr>
          <p:cNvPr id="431086479" name="TextBox 48"/>
          <p:cNvSpPr txBox="1"/>
          <p:nvPr/>
        </p:nvSpPr>
        <p:spPr bwMode="auto">
          <a:xfrm rot="0">
            <a:off x="10735504" y="2452334"/>
            <a:ext cx="1583315" cy="43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~pib.gov.in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93C28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9925361" name="Group 2"/>
          <p:cNvGrpSpPr/>
          <p:nvPr/>
        </p:nvGrpSpPr>
        <p:grpSpPr bwMode="auto">
          <a:xfrm rot="0">
            <a:off x="0" y="7220322"/>
            <a:ext cx="18288000" cy="3086100"/>
            <a:chOff x="0" y="0"/>
            <a:chExt cx="4816593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 fill="norm" stroke="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B9E69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47625"/>
              <a:ext cx="4816593" cy="8604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  <a:defRPr/>
              </a:pPr>
              <a:endParaRPr/>
            </a:p>
          </p:txBody>
        </p:sp>
      </p:grpSp>
      <p:sp>
        <p:nvSpPr>
          <p:cNvPr id="1905402917" name="TextBox 5"/>
          <p:cNvSpPr txBox="1"/>
          <p:nvPr/>
        </p:nvSpPr>
        <p:spPr bwMode="auto">
          <a:xfrm rot="0">
            <a:off x="7320763" y="377850"/>
            <a:ext cx="9273770" cy="221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319"/>
              </a:lnSpc>
              <a:spcBef>
                <a:spcPts val="0"/>
              </a:spcBef>
              <a:defRPr/>
            </a:pPr>
            <a:r>
              <a:rPr lang="en-US" sz="6500" b="1">
                <a:solidFill>
                  <a:srgbClr val="0A0A0A"/>
                </a:solidFill>
                <a:latin typeface="Akzidenz-Grotesk Heavy"/>
                <a:ea typeface="Akzidenz-Grotesk Heavy"/>
                <a:cs typeface="Akzidenz-Grotesk Heavy"/>
              </a:rPr>
              <a:t>Government’s Ongoing Project</a:t>
            </a:r>
            <a:endParaRPr/>
          </a:p>
        </p:txBody>
      </p:sp>
      <p:grpSp>
        <p:nvGrpSpPr>
          <p:cNvPr id="62957770" name="Group 6"/>
          <p:cNvGrpSpPr/>
          <p:nvPr/>
        </p:nvGrpSpPr>
        <p:grpSpPr bwMode="auto">
          <a:xfrm rot="0">
            <a:off x="10510881" y="3035961"/>
            <a:ext cx="7039865" cy="1658302"/>
            <a:chOff x="0" y="0"/>
            <a:chExt cx="1854073" cy="43688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854073" cy="436880"/>
            </a:xfrm>
            <a:custGeom>
              <a:avLst/>
              <a:gdLst/>
              <a:ahLst/>
              <a:cxnLst/>
              <a:rect l="l" t="t" r="r" b="b"/>
              <a:pathLst>
                <a:path w="1854073" h="436880" fill="norm" stroke="1" extrusionOk="0">
                  <a:moveTo>
                    <a:pt x="1854073" y="61585"/>
                  </a:moveTo>
                  <a:lnTo>
                    <a:pt x="1854073" y="375295"/>
                  </a:lnTo>
                  <a:cubicBezTo>
                    <a:pt x="1854073" y="391629"/>
                    <a:pt x="1847585" y="407293"/>
                    <a:pt x="1836035" y="418842"/>
                  </a:cubicBezTo>
                  <a:cubicBezTo>
                    <a:pt x="1824486" y="430392"/>
                    <a:pt x="1808822" y="436880"/>
                    <a:pt x="1792488" y="436880"/>
                  </a:cubicBezTo>
                  <a:lnTo>
                    <a:pt x="61585" y="436880"/>
                  </a:lnTo>
                  <a:cubicBezTo>
                    <a:pt x="27572" y="436880"/>
                    <a:pt x="0" y="409308"/>
                    <a:pt x="0" y="375295"/>
                  </a:cubicBezTo>
                  <a:lnTo>
                    <a:pt x="0" y="61585"/>
                  </a:lnTo>
                  <a:cubicBezTo>
                    <a:pt x="0" y="45251"/>
                    <a:pt x="6488" y="29587"/>
                    <a:pt x="18038" y="18038"/>
                  </a:cubicBezTo>
                  <a:cubicBezTo>
                    <a:pt x="29587" y="6488"/>
                    <a:pt x="45251" y="0"/>
                    <a:pt x="61585" y="0"/>
                  </a:cubicBezTo>
                  <a:lnTo>
                    <a:pt x="1792488" y="0"/>
                  </a:lnTo>
                  <a:cubicBezTo>
                    <a:pt x="1826501" y="0"/>
                    <a:pt x="1854073" y="27572"/>
                    <a:pt x="1854073" y="61585"/>
                  </a:cubicBez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38100"/>
              <a:ext cx="1854073" cy="47498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1542218111" name="Group 9"/>
          <p:cNvGrpSpPr/>
          <p:nvPr/>
        </p:nvGrpSpPr>
        <p:grpSpPr bwMode="auto">
          <a:xfrm rot="0">
            <a:off x="10510881" y="4956078"/>
            <a:ext cx="7039865" cy="1816870"/>
            <a:chOff x="0" y="0"/>
            <a:chExt cx="1854121" cy="478517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854121" cy="478517"/>
            </a:xfrm>
            <a:custGeom>
              <a:avLst/>
              <a:gdLst/>
              <a:ahLst/>
              <a:cxnLst/>
              <a:rect l="l" t="t" r="r" b="b"/>
              <a:pathLst>
                <a:path w="1854121" h="478517" fill="norm" stroke="1" extrusionOk="0">
                  <a:moveTo>
                    <a:pt x="59385" y="0"/>
                  </a:moveTo>
                  <a:lnTo>
                    <a:pt x="1794736" y="0"/>
                  </a:lnTo>
                  <a:cubicBezTo>
                    <a:pt x="1827533" y="0"/>
                    <a:pt x="1854121" y="26588"/>
                    <a:pt x="1854121" y="59385"/>
                  </a:cubicBezTo>
                  <a:lnTo>
                    <a:pt x="1854121" y="419132"/>
                  </a:lnTo>
                  <a:cubicBezTo>
                    <a:pt x="1854121" y="434882"/>
                    <a:pt x="1847865" y="449987"/>
                    <a:pt x="1836728" y="461124"/>
                  </a:cubicBezTo>
                  <a:cubicBezTo>
                    <a:pt x="1825591" y="472260"/>
                    <a:pt x="1810486" y="478517"/>
                    <a:pt x="1794736" y="478517"/>
                  </a:cubicBezTo>
                  <a:lnTo>
                    <a:pt x="59385" y="478517"/>
                  </a:lnTo>
                  <a:cubicBezTo>
                    <a:pt x="43635" y="478517"/>
                    <a:pt x="28530" y="472260"/>
                    <a:pt x="17394" y="461124"/>
                  </a:cubicBezTo>
                  <a:cubicBezTo>
                    <a:pt x="6257" y="449987"/>
                    <a:pt x="0" y="434882"/>
                    <a:pt x="0" y="419132"/>
                  </a:cubicBezTo>
                  <a:lnTo>
                    <a:pt x="0" y="59385"/>
                  </a:lnTo>
                  <a:cubicBezTo>
                    <a:pt x="0" y="43635"/>
                    <a:pt x="6257" y="28530"/>
                    <a:pt x="17394" y="17394"/>
                  </a:cubicBezTo>
                  <a:cubicBezTo>
                    <a:pt x="28530" y="6257"/>
                    <a:pt x="43635" y="0"/>
                    <a:pt x="59385" y="0"/>
                  </a:cubicBez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854121" cy="51661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369409124" name="Group 12"/>
          <p:cNvGrpSpPr/>
          <p:nvPr/>
        </p:nvGrpSpPr>
        <p:grpSpPr bwMode="auto">
          <a:xfrm rot="0">
            <a:off x="9490563" y="3081673"/>
            <a:ext cx="1612590" cy="161259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22C"/>
            </a:solidFill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51899589" name="Group 15"/>
          <p:cNvGrpSpPr/>
          <p:nvPr/>
        </p:nvGrpSpPr>
        <p:grpSpPr bwMode="auto">
          <a:xfrm rot="0">
            <a:off x="9490563" y="4956078"/>
            <a:ext cx="1796732" cy="1702021"/>
            <a:chOff x="0" y="0"/>
            <a:chExt cx="858028" cy="81280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58028" cy="812800"/>
            </a:xfrm>
            <a:custGeom>
              <a:avLst/>
              <a:gdLst/>
              <a:ahLst/>
              <a:cxnLst/>
              <a:rect l="l" t="t" r="r" b="b"/>
              <a:pathLst>
                <a:path w="858029" h="812800" fill="norm" stroke="1" extrusionOk="0">
                  <a:moveTo>
                    <a:pt x="429015" y="0"/>
                  </a:moveTo>
                  <a:cubicBezTo>
                    <a:pt x="192076" y="0"/>
                    <a:pt x="0" y="181951"/>
                    <a:pt x="0" y="406400"/>
                  </a:cubicBezTo>
                  <a:cubicBezTo>
                    <a:pt x="0" y="630849"/>
                    <a:pt x="192076" y="812800"/>
                    <a:pt x="429015" y="812800"/>
                  </a:cubicBezTo>
                  <a:cubicBezTo>
                    <a:pt x="665953" y="812800"/>
                    <a:pt x="858029" y="630849"/>
                    <a:pt x="858029" y="406400"/>
                  </a:cubicBezTo>
                  <a:cubicBezTo>
                    <a:pt x="858029" y="181951"/>
                    <a:pt x="665953" y="0"/>
                    <a:pt x="429015" y="0"/>
                  </a:cubicBezTo>
                  <a:close/>
                </a:path>
              </a:pathLst>
            </a:custGeom>
            <a:solidFill>
              <a:srgbClr val="0F422C"/>
            </a:solid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80439" y="38100"/>
              <a:ext cx="697149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sp>
        <p:nvSpPr>
          <p:cNvPr id="91011825" name="Freeform 18"/>
          <p:cNvSpPr/>
          <p:nvPr/>
        </p:nvSpPr>
        <p:spPr bwMode="auto">
          <a:xfrm rot="0" flipH="0" flipV="0">
            <a:off x="9693962" y="3104076"/>
            <a:ext cx="1389934" cy="1261452"/>
          </a:xfrm>
          <a:custGeom>
            <a:avLst/>
            <a:gdLst/>
            <a:ahLst/>
            <a:cxnLst/>
            <a:rect l="l" t="t" r="r" b="b"/>
            <a:pathLst>
              <a:path w="1389934" h="1261452" fill="norm" stroke="1" extrusionOk="0">
                <a:moveTo>
                  <a:pt x="0" y="0"/>
                </a:moveTo>
                <a:lnTo>
                  <a:pt x="1389933" y="0"/>
                </a:lnTo>
                <a:lnTo>
                  <a:pt x="1389933" y="1261452"/>
                </a:lnTo>
                <a:lnTo>
                  <a:pt x="0" y="1261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675616476" name="Freeform 19"/>
          <p:cNvSpPr/>
          <p:nvPr/>
        </p:nvSpPr>
        <p:spPr bwMode="auto">
          <a:xfrm rot="0" flipH="0" flipV="0">
            <a:off x="9789671" y="5213431"/>
            <a:ext cx="1198516" cy="1187315"/>
          </a:xfrm>
          <a:custGeom>
            <a:avLst/>
            <a:gdLst/>
            <a:ahLst/>
            <a:cxnLst/>
            <a:rect l="l" t="t" r="r" b="b"/>
            <a:pathLst>
              <a:path w="1198516" h="1187315" fill="norm" stroke="1" extrusionOk="0">
                <a:moveTo>
                  <a:pt x="0" y="0"/>
                </a:moveTo>
                <a:lnTo>
                  <a:pt x="1198515" y="0"/>
                </a:lnTo>
                <a:lnTo>
                  <a:pt x="1198515" y="1187315"/>
                </a:lnTo>
                <a:lnTo>
                  <a:pt x="0" y="1187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grpSp>
        <p:nvGrpSpPr>
          <p:cNvPr id="686808223" name="Group 20"/>
          <p:cNvGrpSpPr/>
          <p:nvPr/>
        </p:nvGrpSpPr>
        <p:grpSpPr bwMode="auto">
          <a:xfrm rot="0">
            <a:off x="1670202" y="7239745"/>
            <a:ext cx="2816917" cy="3047255"/>
            <a:chOff x="0" y="0"/>
            <a:chExt cx="741904" cy="802569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741904" cy="802569"/>
            </a:xfrm>
            <a:custGeom>
              <a:avLst/>
              <a:gdLst/>
              <a:ahLst/>
              <a:cxnLst/>
              <a:rect l="l" t="t" r="r" b="b"/>
              <a:pathLst>
                <a:path w="741904" h="802569" fill="norm" stroke="1" extrusionOk="0">
                  <a:moveTo>
                    <a:pt x="0" y="0"/>
                  </a:moveTo>
                  <a:lnTo>
                    <a:pt x="741904" y="0"/>
                  </a:lnTo>
                  <a:lnTo>
                    <a:pt x="741904" y="802569"/>
                  </a:lnTo>
                  <a:lnTo>
                    <a:pt x="0" y="802569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38100"/>
              <a:ext cx="741904" cy="84066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522639137" name="Group 23"/>
          <p:cNvGrpSpPr/>
          <p:nvPr/>
        </p:nvGrpSpPr>
        <p:grpSpPr bwMode="auto">
          <a:xfrm rot="0">
            <a:off x="5936545" y="7239745"/>
            <a:ext cx="2768437" cy="3047255"/>
            <a:chOff x="0" y="0"/>
            <a:chExt cx="729136" cy="802569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729136" cy="802569"/>
            </a:xfrm>
            <a:custGeom>
              <a:avLst/>
              <a:gdLst/>
              <a:ahLst/>
              <a:cxnLst/>
              <a:rect l="l" t="t" r="r" b="b"/>
              <a:pathLst>
                <a:path w="729136" h="802569" fill="norm" stroke="1" extrusionOk="0">
                  <a:moveTo>
                    <a:pt x="0" y="0"/>
                  </a:moveTo>
                  <a:lnTo>
                    <a:pt x="729136" y="0"/>
                  </a:lnTo>
                  <a:lnTo>
                    <a:pt x="729136" y="802569"/>
                  </a:lnTo>
                  <a:lnTo>
                    <a:pt x="0" y="802569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729136" cy="84066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1206896246" name="Group 26"/>
          <p:cNvGrpSpPr/>
          <p:nvPr/>
        </p:nvGrpSpPr>
        <p:grpSpPr bwMode="auto">
          <a:xfrm rot="0">
            <a:off x="10296858" y="7239745"/>
            <a:ext cx="2753282" cy="3008410"/>
            <a:chOff x="0" y="0"/>
            <a:chExt cx="725144" cy="792338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725144" cy="792338"/>
            </a:xfrm>
            <a:custGeom>
              <a:avLst/>
              <a:gdLst/>
              <a:ahLst/>
              <a:cxnLst/>
              <a:rect l="l" t="t" r="r" b="b"/>
              <a:pathLst>
                <a:path w="725144" h="792338" fill="norm" stroke="1" extrusionOk="0">
                  <a:moveTo>
                    <a:pt x="0" y="0"/>
                  </a:moveTo>
                  <a:lnTo>
                    <a:pt x="725144" y="0"/>
                  </a:lnTo>
                  <a:lnTo>
                    <a:pt x="725144" y="792338"/>
                  </a:lnTo>
                  <a:lnTo>
                    <a:pt x="0" y="792338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0" y="-38100"/>
              <a:ext cx="725144" cy="83043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1762210546" name="Group 29"/>
          <p:cNvGrpSpPr/>
          <p:nvPr/>
        </p:nvGrpSpPr>
        <p:grpSpPr bwMode="auto">
          <a:xfrm rot="0">
            <a:off x="14140180" y="7220322"/>
            <a:ext cx="2701628" cy="3027833"/>
            <a:chOff x="0" y="0"/>
            <a:chExt cx="711540" cy="797454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711540" cy="797454"/>
            </a:xfrm>
            <a:custGeom>
              <a:avLst/>
              <a:gdLst/>
              <a:ahLst/>
              <a:cxnLst/>
              <a:rect l="l" t="t" r="r" b="b"/>
              <a:pathLst>
                <a:path w="711540" h="797454" fill="norm" stroke="1" extrusionOk="0">
                  <a:moveTo>
                    <a:pt x="0" y="0"/>
                  </a:moveTo>
                  <a:lnTo>
                    <a:pt x="711540" y="0"/>
                  </a:lnTo>
                  <a:lnTo>
                    <a:pt x="711540" y="797454"/>
                  </a:lnTo>
                  <a:lnTo>
                    <a:pt x="0" y="797454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31" name="TextBox 31"/>
            <p:cNvSpPr txBox="1"/>
            <p:nvPr/>
          </p:nvSpPr>
          <p:spPr bwMode="auto">
            <a:xfrm>
              <a:off x="0" y="-38100"/>
              <a:ext cx="711540" cy="83555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720572889" name="Group 32"/>
          <p:cNvGrpSpPr/>
          <p:nvPr/>
        </p:nvGrpSpPr>
        <p:grpSpPr bwMode="auto">
          <a:xfrm rot="0">
            <a:off x="2359919" y="7239745"/>
            <a:ext cx="1571689" cy="157168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6545"/>
            </a:solidFill>
          </p:spPr>
        </p:sp>
        <p:sp>
          <p:nvSpPr>
            <p:cNvPr id="34" name="TextBox 34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1309749889" name="Group 35"/>
          <p:cNvGrpSpPr/>
          <p:nvPr/>
        </p:nvGrpSpPr>
        <p:grpSpPr bwMode="auto">
          <a:xfrm rot="0">
            <a:off x="6512629" y="7200900"/>
            <a:ext cx="1616268" cy="1616268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6545"/>
            </a:solidFill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1892369198" name="Group 38"/>
          <p:cNvGrpSpPr/>
          <p:nvPr/>
        </p:nvGrpSpPr>
        <p:grpSpPr bwMode="auto">
          <a:xfrm rot="0">
            <a:off x="10844840" y="7155319"/>
            <a:ext cx="1656115" cy="1656115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6545"/>
            </a:solidFill>
          </p:spPr>
        </p:sp>
        <p:sp>
          <p:nvSpPr>
            <p:cNvPr id="40" name="TextBox 40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727392102" name="Group 41"/>
          <p:cNvGrpSpPr/>
          <p:nvPr/>
        </p:nvGrpSpPr>
        <p:grpSpPr bwMode="auto">
          <a:xfrm rot="0">
            <a:off x="14791015" y="7162055"/>
            <a:ext cx="1722417" cy="172241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6545"/>
            </a:solidFill>
          </p:spPr>
        </p:sp>
        <p:sp>
          <p:nvSpPr>
            <p:cNvPr id="43" name="TextBox 43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sp>
        <p:nvSpPr>
          <p:cNvPr id="343004147" name="Freeform 44"/>
          <p:cNvSpPr/>
          <p:nvPr/>
        </p:nvSpPr>
        <p:spPr bwMode="auto">
          <a:xfrm rot="0" flipH="0" flipV="0">
            <a:off x="2075991" y="7440698"/>
            <a:ext cx="2005340" cy="1169782"/>
          </a:xfrm>
          <a:custGeom>
            <a:avLst/>
            <a:gdLst/>
            <a:ahLst/>
            <a:cxnLst/>
            <a:rect l="l" t="t" r="r" b="b"/>
            <a:pathLst>
              <a:path w="2005340" h="1169782" fill="norm" stroke="1" extrusionOk="0">
                <a:moveTo>
                  <a:pt x="0" y="0"/>
                </a:moveTo>
                <a:lnTo>
                  <a:pt x="2005340" y="0"/>
                </a:lnTo>
                <a:lnTo>
                  <a:pt x="2005340" y="1169782"/>
                </a:lnTo>
                <a:lnTo>
                  <a:pt x="0" y="11697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866224134" name="Freeform 45"/>
          <p:cNvSpPr/>
          <p:nvPr/>
        </p:nvSpPr>
        <p:spPr bwMode="auto">
          <a:xfrm rot="0" flipH="0" flipV="0">
            <a:off x="6757473" y="7348625"/>
            <a:ext cx="1126579" cy="1320817"/>
          </a:xfrm>
          <a:custGeom>
            <a:avLst/>
            <a:gdLst/>
            <a:ahLst/>
            <a:cxnLst/>
            <a:rect l="l" t="t" r="r" b="b"/>
            <a:pathLst>
              <a:path w="1126579" h="1320817" fill="norm" stroke="1" extrusionOk="0">
                <a:moveTo>
                  <a:pt x="0" y="0"/>
                </a:moveTo>
                <a:lnTo>
                  <a:pt x="1126580" y="0"/>
                </a:lnTo>
                <a:lnTo>
                  <a:pt x="1126580" y="1320817"/>
                </a:lnTo>
                <a:lnTo>
                  <a:pt x="0" y="1320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72572554" name="Freeform 46"/>
          <p:cNvSpPr/>
          <p:nvPr/>
        </p:nvSpPr>
        <p:spPr bwMode="auto">
          <a:xfrm rot="0" flipH="0" flipV="0">
            <a:off x="11061926" y="7393577"/>
            <a:ext cx="1223145" cy="1230912"/>
          </a:xfrm>
          <a:custGeom>
            <a:avLst/>
            <a:gdLst/>
            <a:ahLst/>
            <a:cxnLst/>
            <a:rect l="l" t="t" r="r" b="b"/>
            <a:pathLst>
              <a:path w="1223146" h="1230912" fill="norm" stroke="1" extrusionOk="0">
                <a:moveTo>
                  <a:pt x="0" y="0"/>
                </a:moveTo>
                <a:lnTo>
                  <a:pt x="1223146" y="0"/>
                </a:lnTo>
                <a:lnTo>
                  <a:pt x="1223146" y="1230912"/>
                </a:lnTo>
                <a:lnTo>
                  <a:pt x="0" y="1230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1436301536" name="Freeform 47"/>
          <p:cNvSpPr/>
          <p:nvPr/>
        </p:nvSpPr>
        <p:spPr bwMode="auto">
          <a:xfrm rot="0" flipH="0" flipV="0">
            <a:off x="14640815" y="7081440"/>
            <a:ext cx="1872943" cy="1543050"/>
          </a:xfrm>
          <a:custGeom>
            <a:avLst/>
            <a:gdLst/>
            <a:ahLst/>
            <a:cxnLst/>
            <a:rect l="l" t="t" r="r" b="b"/>
            <a:pathLst>
              <a:path w="1872943" h="1543050" fill="norm" stroke="1" extrusionOk="0">
                <a:moveTo>
                  <a:pt x="0" y="0"/>
                </a:moveTo>
                <a:lnTo>
                  <a:pt x="1872943" y="0"/>
                </a:lnTo>
                <a:lnTo>
                  <a:pt x="1872943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</p:sp>
      <p:sp>
        <p:nvSpPr>
          <p:cNvPr id="178694851" name="Freeform 48"/>
          <p:cNvSpPr/>
          <p:nvPr/>
        </p:nvSpPr>
        <p:spPr bwMode="auto">
          <a:xfrm rot="0" flipH="0" flipV="0">
            <a:off x="717657" y="312454"/>
            <a:ext cx="6394787" cy="6583646"/>
          </a:xfrm>
          <a:custGeom>
            <a:avLst/>
            <a:gdLst/>
            <a:ahLst/>
            <a:cxnLst/>
            <a:rect l="l" t="t" r="r" b="b"/>
            <a:pathLst>
              <a:path w="6394787" h="6583646" fill="norm" stroke="1" extrusionOk="0">
                <a:moveTo>
                  <a:pt x="0" y="0"/>
                </a:moveTo>
                <a:lnTo>
                  <a:pt x="6394786" y="0"/>
                </a:lnTo>
                <a:lnTo>
                  <a:pt x="6394786" y="6583646"/>
                </a:lnTo>
                <a:lnTo>
                  <a:pt x="0" y="6583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/>
            <a:stretch>
              <a:fillRect l="-17409" t="0" r="-23229" b="0"/>
            </a:stretch>
          </a:blipFill>
        </p:spPr>
      </p:sp>
      <p:sp>
        <p:nvSpPr>
          <p:cNvPr id="865389854" name="TextBox 49"/>
          <p:cNvSpPr txBox="1"/>
          <p:nvPr/>
        </p:nvSpPr>
        <p:spPr bwMode="auto">
          <a:xfrm rot="0">
            <a:off x="11287295" y="3400291"/>
            <a:ext cx="5221522" cy="884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0A0A0A"/>
                </a:solidFill>
                <a:latin typeface="Helvetica World Bold"/>
                <a:ea typeface="Helvetica World Bold"/>
                <a:cs typeface="Helvetica World Bold"/>
              </a:rPr>
              <a:t>Lakshya Zero Dumpsites by October 2026</a:t>
            </a:r>
            <a:endParaRPr/>
          </a:p>
        </p:txBody>
      </p:sp>
      <p:sp>
        <p:nvSpPr>
          <p:cNvPr id="1363285102" name="TextBox 50"/>
          <p:cNvSpPr txBox="1"/>
          <p:nvPr/>
        </p:nvSpPr>
        <p:spPr bwMode="auto">
          <a:xfrm rot="0">
            <a:off x="11287295" y="5398495"/>
            <a:ext cx="6117729" cy="88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7"/>
              </a:lnSpc>
              <a:spcBef>
                <a:spcPts val="0"/>
              </a:spcBef>
              <a:defRPr/>
            </a:pPr>
            <a:r>
              <a:rPr lang="en-US" sz="23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DRAP - Dumpsites Remediation Accelerator Program</a:t>
            </a:r>
            <a:endParaRPr/>
          </a:p>
        </p:txBody>
      </p:sp>
      <p:sp>
        <p:nvSpPr>
          <p:cNvPr id="158202744" name="TextBox 51"/>
          <p:cNvSpPr txBox="1"/>
          <p:nvPr/>
        </p:nvSpPr>
        <p:spPr bwMode="auto">
          <a:xfrm rot="0">
            <a:off x="2075991" y="8899415"/>
            <a:ext cx="2298597" cy="1380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lang="en-US" sz="2500" b="1">
                <a:solidFill>
                  <a:srgbClr val="0A0A0A"/>
                </a:solidFill>
                <a:latin typeface="Helvetica World Bold"/>
                <a:ea typeface="Helvetica World Bold"/>
                <a:cs typeface="Helvetica World Bold"/>
              </a:rPr>
              <a:t>1,428</a:t>
            </a:r>
            <a:endParaRPr/>
          </a:p>
          <a:p>
            <a:pPr algn="ctr">
              <a:lnSpc>
                <a:spcPts val="3499"/>
              </a:lnSpc>
              <a:spcBef>
                <a:spcPts val="0"/>
              </a:spcBef>
              <a:defRPr/>
            </a:pPr>
            <a:r>
              <a:rPr lang="en-US" sz="2500" b="1">
                <a:solidFill>
                  <a:srgbClr val="0A0A0A"/>
                </a:solidFill>
                <a:latin typeface="Helvetica World Bold"/>
                <a:ea typeface="Helvetica World Bold"/>
                <a:cs typeface="Helvetica World Bold"/>
              </a:rPr>
              <a:t>dumpsites cleared</a:t>
            </a:r>
            <a:endParaRPr/>
          </a:p>
        </p:txBody>
      </p:sp>
      <p:sp>
        <p:nvSpPr>
          <p:cNvPr id="185117341" name="TextBox 52"/>
          <p:cNvSpPr txBox="1"/>
          <p:nvPr/>
        </p:nvSpPr>
        <p:spPr bwMode="auto">
          <a:xfrm rot="0">
            <a:off x="6419137" y="8879763"/>
            <a:ext cx="1803252" cy="1380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lang="en-US" sz="2500" b="1">
                <a:solidFill>
                  <a:srgbClr val="0A0A0A"/>
                </a:solidFill>
                <a:latin typeface="Helvetica World Bold"/>
                <a:ea typeface="Helvetica World Bold"/>
                <a:cs typeface="Helvetica World Bold"/>
              </a:rPr>
              <a:t>62%</a:t>
            </a:r>
            <a:endParaRPr/>
          </a:p>
          <a:p>
            <a:pPr algn="ctr">
              <a:lnSpc>
                <a:spcPts val="3499"/>
              </a:lnSpc>
              <a:spcBef>
                <a:spcPts val="0"/>
              </a:spcBef>
              <a:defRPr/>
            </a:pPr>
            <a:r>
              <a:rPr lang="en-US" sz="2500" b="1">
                <a:solidFill>
                  <a:srgbClr val="0A0A0A"/>
                </a:solidFill>
                <a:latin typeface="Helvetica World Bold"/>
                <a:ea typeface="Helvetica World Bold"/>
                <a:cs typeface="Helvetica World Bold"/>
              </a:rPr>
              <a:t>of legacy waste </a:t>
            </a:r>
            <a:endParaRPr/>
          </a:p>
        </p:txBody>
      </p:sp>
      <p:sp>
        <p:nvSpPr>
          <p:cNvPr id="889368228" name="TextBox 53"/>
          <p:cNvSpPr txBox="1"/>
          <p:nvPr/>
        </p:nvSpPr>
        <p:spPr bwMode="auto">
          <a:xfrm rot="0">
            <a:off x="10869600" y="8779068"/>
            <a:ext cx="1756796" cy="140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5"/>
              </a:lnSpc>
              <a:defRPr/>
            </a:pPr>
            <a:r>
              <a:rPr lang="en-US" sz="1850" b="1">
                <a:solidFill>
                  <a:srgbClr val="0A0A0A"/>
                </a:solidFill>
                <a:latin typeface="Helvetica World Bold"/>
                <a:ea typeface="Helvetica World Bold"/>
                <a:cs typeface="Helvetica World Bold"/>
              </a:rPr>
              <a:t>183 lakh </a:t>
            </a:r>
            <a:endParaRPr/>
          </a:p>
          <a:p>
            <a:pPr algn="ctr">
              <a:lnSpc>
                <a:spcPts val="2555"/>
              </a:lnSpc>
              <a:spcBef>
                <a:spcPts val="0"/>
              </a:spcBef>
              <a:defRPr/>
            </a:pPr>
            <a:r>
              <a:rPr lang="en-US" sz="1850" b="1">
                <a:solidFill>
                  <a:srgbClr val="0A0A0A"/>
                </a:solidFill>
                <a:latin typeface="Helvetica World Bold"/>
                <a:ea typeface="Helvetica World Bold"/>
                <a:cs typeface="Helvetica World Bold"/>
              </a:rPr>
              <a:t>metric tonnes of waste remediated</a:t>
            </a:r>
            <a:endParaRPr/>
          </a:p>
        </p:txBody>
      </p:sp>
      <p:sp>
        <p:nvSpPr>
          <p:cNvPr id="129117335" name="TextBox 54"/>
          <p:cNvSpPr txBox="1"/>
          <p:nvPr/>
        </p:nvSpPr>
        <p:spPr bwMode="auto">
          <a:xfrm rot="0">
            <a:off x="14221806" y="8918854"/>
            <a:ext cx="2538375" cy="134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2"/>
              </a:lnSpc>
              <a:defRPr/>
            </a:pPr>
            <a:r>
              <a:rPr lang="en-US" sz="1800" b="1">
                <a:solidFill>
                  <a:srgbClr val="0A0A0A"/>
                </a:solidFill>
                <a:latin typeface="Helvetica World Bold"/>
                <a:ea typeface="Helvetica World Bold"/>
                <a:cs typeface="Helvetica World Bold"/>
              </a:rPr>
              <a:t>Reclaimed land -</a:t>
            </a:r>
            <a:endParaRPr/>
          </a:p>
          <a:p>
            <a:pPr algn="ctr">
              <a:lnSpc>
                <a:spcPts val="2492"/>
              </a:lnSpc>
              <a:spcBef>
                <a:spcPts val="0"/>
              </a:spcBef>
              <a:defRPr/>
            </a:pPr>
            <a:r>
              <a:rPr lang="en-US" sz="1800" b="1">
                <a:solidFill>
                  <a:srgbClr val="0A0A0A"/>
                </a:solidFill>
                <a:latin typeface="Helvetica World Bold"/>
                <a:ea typeface="Helvetica World Bold"/>
                <a:cs typeface="Helvetica World Bold"/>
              </a:rPr>
              <a:t>sanitation &amp; processing infrastructure</a:t>
            </a:r>
            <a:endParaRPr/>
          </a:p>
        </p:txBody>
      </p:sp>
      <p:sp>
        <p:nvSpPr>
          <p:cNvPr id="207653803" name="TextBox 55"/>
          <p:cNvSpPr txBox="1"/>
          <p:nvPr/>
        </p:nvSpPr>
        <p:spPr bwMode="auto">
          <a:xfrm rot="0">
            <a:off x="16572452" y="6808869"/>
            <a:ext cx="1665143" cy="43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</a:rPr>
              <a:t>~ pib.gov.in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93C28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785385" name="AutoShape 2"/>
          <p:cNvSpPr/>
          <p:nvPr/>
        </p:nvSpPr>
        <p:spPr bwMode="auto">
          <a:xfrm flipV="1">
            <a:off x="1028700" y="9706338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29171081" name="Group 3"/>
          <p:cNvGrpSpPr/>
          <p:nvPr/>
        </p:nvGrpSpPr>
        <p:grpSpPr bwMode="auto">
          <a:xfrm rot="0">
            <a:off x="9144000" y="729504"/>
            <a:ext cx="8115300" cy="2511903"/>
            <a:chOff x="0" y="0"/>
            <a:chExt cx="4703583" cy="145588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4703583" cy="1455884"/>
            </a:xfrm>
            <a:custGeom>
              <a:avLst/>
              <a:gdLst/>
              <a:ahLst/>
              <a:cxnLst/>
              <a:rect l="l" t="t" r="r" b="b"/>
              <a:pathLst>
                <a:path w="4703584" h="1455885" fill="norm" stroke="1" extrusionOk="0">
                  <a:moveTo>
                    <a:pt x="4770" y="0"/>
                  </a:moveTo>
                  <a:lnTo>
                    <a:pt x="4698814" y="0"/>
                  </a:lnTo>
                  <a:cubicBezTo>
                    <a:pt x="4700079" y="0"/>
                    <a:pt x="4701292" y="503"/>
                    <a:pt x="4702187" y="1397"/>
                  </a:cubicBezTo>
                  <a:cubicBezTo>
                    <a:pt x="4703081" y="2292"/>
                    <a:pt x="4703584" y="3505"/>
                    <a:pt x="4703584" y="4770"/>
                  </a:cubicBezTo>
                  <a:lnTo>
                    <a:pt x="4703584" y="1451115"/>
                  </a:lnTo>
                  <a:cubicBezTo>
                    <a:pt x="4703584" y="1452380"/>
                    <a:pt x="4703081" y="1453594"/>
                    <a:pt x="4702187" y="1454488"/>
                  </a:cubicBezTo>
                  <a:cubicBezTo>
                    <a:pt x="4701292" y="1455383"/>
                    <a:pt x="4700079" y="1455885"/>
                    <a:pt x="4698814" y="1455885"/>
                  </a:cubicBezTo>
                  <a:lnTo>
                    <a:pt x="4770" y="1455885"/>
                  </a:lnTo>
                  <a:cubicBezTo>
                    <a:pt x="3505" y="1455885"/>
                    <a:pt x="2292" y="1455383"/>
                    <a:pt x="1397" y="1454488"/>
                  </a:cubicBezTo>
                  <a:cubicBezTo>
                    <a:pt x="503" y="1453594"/>
                    <a:pt x="0" y="1452380"/>
                    <a:pt x="0" y="1451115"/>
                  </a:cubicBezTo>
                  <a:lnTo>
                    <a:pt x="0" y="4770"/>
                  </a:lnTo>
                  <a:cubicBezTo>
                    <a:pt x="0" y="3505"/>
                    <a:pt x="503" y="2292"/>
                    <a:pt x="1397" y="1397"/>
                  </a:cubicBezTo>
                  <a:cubicBezTo>
                    <a:pt x="2292" y="503"/>
                    <a:pt x="3505" y="0"/>
                    <a:pt x="477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500"/>
                  </a:srgbClr>
                </a:gs>
                <a:gs pos="100000">
                  <a:srgbClr val="FFFFFF">
                    <a:alpha val="9500"/>
                  </a:srgbClr>
                </a:gs>
              </a:gsLst>
              <a:lin ang="5400000" scaled="1"/>
            </a:gradFill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4703583" cy="1493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386326151" name="Group 6"/>
          <p:cNvGrpSpPr/>
          <p:nvPr/>
        </p:nvGrpSpPr>
        <p:grpSpPr bwMode="auto">
          <a:xfrm rot="0">
            <a:off x="9144000" y="3502184"/>
            <a:ext cx="8115300" cy="2511903"/>
            <a:chOff x="0" y="0"/>
            <a:chExt cx="4703583" cy="1455884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4703583" cy="1455884"/>
            </a:xfrm>
            <a:custGeom>
              <a:avLst/>
              <a:gdLst/>
              <a:ahLst/>
              <a:cxnLst/>
              <a:rect l="l" t="t" r="r" b="b"/>
              <a:pathLst>
                <a:path w="4703584" h="1455885" fill="norm" stroke="1" extrusionOk="0">
                  <a:moveTo>
                    <a:pt x="4770" y="0"/>
                  </a:moveTo>
                  <a:lnTo>
                    <a:pt x="4698814" y="0"/>
                  </a:lnTo>
                  <a:cubicBezTo>
                    <a:pt x="4700079" y="0"/>
                    <a:pt x="4701292" y="503"/>
                    <a:pt x="4702187" y="1397"/>
                  </a:cubicBezTo>
                  <a:cubicBezTo>
                    <a:pt x="4703081" y="2292"/>
                    <a:pt x="4703584" y="3505"/>
                    <a:pt x="4703584" y="4770"/>
                  </a:cubicBezTo>
                  <a:lnTo>
                    <a:pt x="4703584" y="1451115"/>
                  </a:lnTo>
                  <a:cubicBezTo>
                    <a:pt x="4703584" y="1452380"/>
                    <a:pt x="4703081" y="1453594"/>
                    <a:pt x="4702187" y="1454488"/>
                  </a:cubicBezTo>
                  <a:cubicBezTo>
                    <a:pt x="4701292" y="1455383"/>
                    <a:pt x="4700079" y="1455885"/>
                    <a:pt x="4698814" y="1455885"/>
                  </a:cubicBezTo>
                  <a:lnTo>
                    <a:pt x="4770" y="1455885"/>
                  </a:lnTo>
                  <a:cubicBezTo>
                    <a:pt x="3505" y="1455885"/>
                    <a:pt x="2292" y="1455383"/>
                    <a:pt x="1397" y="1454488"/>
                  </a:cubicBezTo>
                  <a:cubicBezTo>
                    <a:pt x="503" y="1453594"/>
                    <a:pt x="0" y="1452380"/>
                    <a:pt x="0" y="1451115"/>
                  </a:cubicBezTo>
                  <a:lnTo>
                    <a:pt x="0" y="4770"/>
                  </a:lnTo>
                  <a:cubicBezTo>
                    <a:pt x="0" y="3505"/>
                    <a:pt x="503" y="2292"/>
                    <a:pt x="1397" y="1397"/>
                  </a:cubicBezTo>
                  <a:cubicBezTo>
                    <a:pt x="2292" y="503"/>
                    <a:pt x="3505" y="0"/>
                    <a:pt x="477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500"/>
                  </a:srgbClr>
                </a:gs>
                <a:gs pos="100000">
                  <a:srgbClr val="FFFFFF">
                    <a:alpha val="9500"/>
                  </a:srgbClr>
                </a:gs>
              </a:gsLst>
              <a:lin ang="5400000" scaled="1"/>
            </a:gradFill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38100"/>
              <a:ext cx="4703583" cy="1493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895875528" name="Group 9"/>
          <p:cNvGrpSpPr/>
          <p:nvPr/>
        </p:nvGrpSpPr>
        <p:grpSpPr bwMode="auto">
          <a:xfrm rot="0">
            <a:off x="9144000" y="6274864"/>
            <a:ext cx="8115300" cy="2511903"/>
            <a:chOff x="0" y="0"/>
            <a:chExt cx="4703583" cy="1455884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4703583" cy="1455884"/>
            </a:xfrm>
            <a:custGeom>
              <a:avLst/>
              <a:gdLst/>
              <a:ahLst/>
              <a:cxnLst/>
              <a:rect l="l" t="t" r="r" b="b"/>
              <a:pathLst>
                <a:path w="4703584" h="1455885" fill="norm" stroke="1" extrusionOk="0">
                  <a:moveTo>
                    <a:pt x="4770" y="0"/>
                  </a:moveTo>
                  <a:lnTo>
                    <a:pt x="4698814" y="0"/>
                  </a:lnTo>
                  <a:cubicBezTo>
                    <a:pt x="4700079" y="0"/>
                    <a:pt x="4701292" y="503"/>
                    <a:pt x="4702187" y="1397"/>
                  </a:cubicBezTo>
                  <a:cubicBezTo>
                    <a:pt x="4703081" y="2292"/>
                    <a:pt x="4703584" y="3505"/>
                    <a:pt x="4703584" y="4770"/>
                  </a:cubicBezTo>
                  <a:lnTo>
                    <a:pt x="4703584" y="1451115"/>
                  </a:lnTo>
                  <a:cubicBezTo>
                    <a:pt x="4703584" y="1452380"/>
                    <a:pt x="4703081" y="1453594"/>
                    <a:pt x="4702187" y="1454488"/>
                  </a:cubicBezTo>
                  <a:cubicBezTo>
                    <a:pt x="4701292" y="1455383"/>
                    <a:pt x="4700079" y="1455885"/>
                    <a:pt x="4698814" y="1455885"/>
                  </a:cubicBezTo>
                  <a:lnTo>
                    <a:pt x="4770" y="1455885"/>
                  </a:lnTo>
                  <a:cubicBezTo>
                    <a:pt x="3505" y="1455885"/>
                    <a:pt x="2292" y="1455383"/>
                    <a:pt x="1397" y="1454488"/>
                  </a:cubicBezTo>
                  <a:cubicBezTo>
                    <a:pt x="503" y="1453594"/>
                    <a:pt x="0" y="1452380"/>
                    <a:pt x="0" y="1451115"/>
                  </a:cubicBezTo>
                  <a:lnTo>
                    <a:pt x="0" y="4770"/>
                  </a:lnTo>
                  <a:cubicBezTo>
                    <a:pt x="0" y="3505"/>
                    <a:pt x="503" y="2292"/>
                    <a:pt x="1397" y="1397"/>
                  </a:cubicBezTo>
                  <a:cubicBezTo>
                    <a:pt x="2292" y="503"/>
                    <a:pt x="3505" y="0"/>
                    <a:pt x="477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500"/>
                  </a:srgbClr>
                </a:gs>
                <a:gs pos="100000">
                  <a:srgbClr val="FFFFFF">
                    <a:alpha val="9500"/>
                  </a:srgbClr>
                </a:gs>
              </a:gsLst>
              <a:lin ang="5400000" scaled="1"/>
            </a:gradFill>
            <a:ln w="9525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4703583" cy="1493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524404495" name="Group 12"/>
          <p:cNvGrpSpPr/>
          <p:nvPr/>
        </p:nvGrpSpPr>
        <p:grpSpPr bwMode="auto">
          <a:xfrm rot="0">
            <a:off x="9345689" y="942582"/>
            <a:ext cx="2056907" cy="2085747"/>
            <a:chOff x="0" y="0"/>
            <a:chExt cx="2310269" cy="23426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310269" cy="2342661"/>
            </a:xfrm>
            <a:custGeom>
              <a:avLst/>
              <a:gdLst/>
              <a:ahLst/>
              <a:cxnLst/>
              <a:rect l="l" t="t" r="r" b="b"/>
              <a:pathLst>
                <a:path w="2310269" h="2342661" fill="norm" stroke="1" extrusionOk="0">
                  <a:moveTo>
                    <a:pt x="18819" y="0"/>
                  </a:moveTo>
                  <a:lnTo>
                    <a:pt x="2291450" y="0"/>
                  </a:lnTo>
                  <a:cubicBezTo>
                    <a:pt x="2301843" y="0"/>
                    <a:pt x="2310269" y="8426"/>
                    <a:pt x="2310269" y="18819"/>
                  </a:cubicBezTo>
                  <a:lnTo>
                    <a:pt x="2310269" y="2323841"/>
                  </a:lnTo>
                  <a:cubicBezTo>
                    <a:pt x="2310269" y="2334235"/>
                    <a:pt x="2301843" y="2342661"/>
                    <a:pt x="2291450" y="2342661"/>
                  </a:cubicBezTo>
                  <a:lnTo>
                    <a:pt x="18819" y="2342661"/>
                  </a:lnTo>
                  <a:cubicBezTo>
                    <a:pt x="8426" y="2342661"/>
                    <a:pt x="0" y="2334235"/>
                    <a:pt x="0" y="2323841"/>
                  </a:cubicBezTo>
                  <a:lnTo>
                    <a:pt x="0" y="18819"/>
                  </a:lnTo>
                  <a:cubicBezTo>
                    <a:pt x="0" y="8426"/>
                    <a:pt x="8426" y="0"/>
                    <a:pt x="18819" y="0"/>
                  </a:cubicBezTo>
                  <a:close/>
                </a:path>
              </a:pathLst>
            </a:custGeom>
            <a:solidFill>
              <a:srgbClr val="CBE6BA"/>
            </a:solidFill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2310269" cy="23807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552489813" name="Group 15"/>
          <p:cNvGrpSpPr/>
          <p:nvPr/>
        </p:nvGrpSpPr>
        <p:grpSpPr bwMode="auto">
          <a:xfrm rot="0">
            <a:off x="9345689" y="3715262"/>
            <a:ext cx="2056907" cy="2085747"/>
            <a:chOff x="0" y="0"/>
            <a:chExt cx="2310269" cy="2342661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2310269" cy="2342661"/>
            </a:xfrm>
            <a:custGeom>
              <a:avLst/>
              <a:gdLst/>
              <a:ahLst/>
              <a:cxnLst/>
              <a:rect l="l" t="t" r="r" b="b"/>
              <a:pathLst>
                <a:path w="2310269" h="2342661" fill="norm" stroke="1" extrusionOk="0">
                  <a:moveTo>
                    <a:pt x="18819" y="0"/>
                  </a:moveTo>
                  <a:lnTo>
                    <a:pt x="2291450" y="0"/>
                  </a:lnTo>
                  <a:cubicBezTo>
                    <a:pt x="2301843" y="0"/>
                    <a:pt x="2310269" y="8426"/>
                    <a:pt x="2310269" y="18819"/>
                  </a:cubicBezTo>
                  <a:lnTo>
                    <a:pt x="2310269" y="2323841"/>
                  </a:lnTo>
                  <a:cubicBezTo>
                    <a:pt x="2310269" y="2334235"/>
                    <a:pt x="2301843" y="2342661"/>
                    <a:pt x="2291450" y="2342661"/>
                  </a:cubicBezTo>
                  <a:lnTo>
                    <a:pt x="18819" y="2342661"/>
                  </a:lnTo>
                  <a:cubicBezTo>
                    <a:pt x="8426" y="2342661"/>
                    <a:pt x="0" y="2334235"/>
                    <a:pt x="0" y="2323841"/>
                  </a:cubicBezTo>
                  <a:lnTo>
                    <a:pt x="0" y="18819"/>
                  </a:lnTo>
                  <a:cubicBezTo>
                    <a:pt x="0" y="8426"/>
                    <a:pt x="8426" y="0"/>
                    <a:pt x="18819" y="0"/>
                  </a:cubicBezTo>
                  <a:close/>
                </a:path>
              </a:pathLst>
            </a:custGeom>
            <a:solidFill>
              <a:srgbClr val="CBE6BA"/>
            </a:solid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38100"/>
              <a:ext cx="2310269" cy="23807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089416826" name="Group 18"/>
          <p:cNvGrpSpPr/>
          <p:nvPr/>
        </p:nvGrpSpPr>
        <p:grpSpPr bwMode="auto">
          <a:xfrm rot="0">
            <a:off x="9345689" y="6487942"/>
            <a:ext cx="2056907" cy="2085747"/>
            <a:chOff x="0" y="0"/>
            <a:chExt cx="2310269" cy="2342661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2310269" cy="2342661"/>
            </a:xfrm>
            <a:custGeom>
              <a:avLst/>
              <a:gdLst/>
              <a:ahLst/>
              <a:cxnLst/>
              <a:rect l="l" t="t" r="r" b="b"/>
              <a:pathLst>
                <a:path w="2310269" h="2342661" fill="norm" stroke="1" extrusionOk="0">
                  <a:moveTo>
                    <a:pt x="18819" y="0"/>
                  </a:moveTo>
                  <a:lnTo>
                    <a:pt x="2291450" y="0"/>
                  </a:lnTo>
                  <a:cubicBezTo>
                    <a:pt x="2301843" y="0"/>
                    <a:pt x="2310269" y="8426"/>
                    <a:pt x="2310269" y="18819"/>
                  </a:cubicBezTo>
                  <a:lnTo>
                    <a:pt x="2310269" y="2323841"/>
                  </a:lnTo>
                  <a:cubicBezTo>
                    <a:pt x="2310269" y="2334235"/>
                    <a:pt x="2301843" y="2342661"/>
                    <a:pt x="2291450" y="2342661"/>
                  </a:cubicBezTo>
                  <a:lnTo>
                    <a:pt x="18819" y="2342661"/>
                  </a:lnTo>
                  <a:cubicBezTo>
                    <a:pt x="8426" y="2342661"/>
                    <a:pt x="0" y="2334235"/>
                    <a:pt x="0" y="2323841"/>
                  </a:cubicBezTo>
                  <a:lnTo>
                    <a:pt x="0" y="18819"/>
                  </a:lnTo>
                  <a:cubicBezTo>
                    <a:pt x="0" y="8426"/>
                    <a:pt x="8426" y="0"/>
                    <a:pt x="18819" y="0"/>
                  </a:cubicBezTo>
                  <a:close/>
                </a:path>
              </a:pathLst>
            </a:custGeom>
            <a:solidFill>
              <a:srgbClr val="CBE6BA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2310269" cy="23807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625189750" name="Group 21"/>
          <p:cNvGrpSpPr/>
          <p:nvPr/>
        </p:nvGrpSpPr>
        <p:grpSpPr bwMode="auto">
          <a:xfrm rot="0">
            <a:off x="1028700" y="3736706"/>
            <a:ext cx="7610792" cy="5050060"/>
            <a:chOff x="0" y="0"/>
            <a:chExt cx="1179111" cy="782386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179111" cy="782386"/>
            </a:xfrm>
            <a:custGeom>
              <a:avLst/>
              <a:gdLst/>
              <a:ahLst/>
              <a:cxnLst/>
              <a:rect l="l" t="t" r="r" b="b"/>
              <a:pathLst>
                <a:path w="1179111" h="782386" fill="norm" stroke="1" extrusionOk="0">
                  <a:moveTo>
                    <a:pt x="68154" y="0"/>
                  </a:moveTo>
                  <a:lnTo>
                    <a:pt x="1110957" y="0"/>
                  </a:lnTo>
                  <a:cubicBezTo>
                    <a:pt x="1148597" y="0"/>
                    <a:pt x="1179111" y="30514"/>
                    <a:pt x="1179111" y="68154"/>
                  </a:cubicBezTo>
                  <a:lnTo>
                    <a:pt x="1179111" y="714232"/>
                  </a:lnTo>
                  <a:cubicBezTo>
                    <a:pt x="1179111" y="751873"/>
                    <a:pt x="1148597" y="782386"/>
                    <a:pt x="1110957" y="782386"/>
                  </a:cubicBezTo>
                  <a:lnTo>
                    <a:pt x="68154" y="782386"/>
                  </a:lnTo>
                  <a:cubicBezTo>
                    <a:pt x="30514" y="782386"/>
                    <a:pt x="0" y="751873"/>
                    <a:pt x="0" y="714232"/>
                  </a:cubicBezTo>
                  <a:lnTo>
                    <a:pt x="0" y="68154"/>
                  </a:lnTo>
                  <a:cubicBezTo>
                    <a:pt x="0" y="30514"/>
                    <a:pt x="30514" y="0"/>
                    <a:pt x="68154" y="0"/>
                  </a:cubicBezTo>
                  <a:close/>
                </a:path>
              </a:pathLst>
            </a:custGeom>
            <a:blipFill rotWithShape="1">
              <a:blip r:embed="rId3"/>
              <a:stretch>
                <a:fillRect l="0" t="-935" r="0" b="-935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56426911" name="Freeform 23"/>
          <p:cNvSpPr/>
          <p:nvPr/>
        </p:nvSpPr>
        <p:spPr bwMode="auto">
          <a:xfrm rot="0" flipH="0" flipV="0">
            <a:off x="9413060" y="1227782"/>
            <a:ext cx="1989536" cy="1268609"/>
          </a:xfrm>
          <a:custGeom>
            <a:avLst/>
            <a:gdLst/>
            <a:ahLst/>
            <a:cxnLst/>
            <a:rect l="l" t="t" r="r" b="b"/>
            <a:pathLst>
              <a:path w="1989536" h="1268609" fill="norm" stroke="1" extrusionOk="0">
                <a:moveTo>
                  <a:pt x="0" y="0"/>
                </a:moveTo>
                <a:lnTo>
                  <a:pt x="1989536" y="0"/>
                </a:lnTo>
                <a:lnTo>
                  <a:pt x="1989536" y="1268609"/>
                </a:lnTo>
                <a:lnTo>
                  <a:pt x="0" y="1268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112368819" name="Freeform 24"/>
          <p:cNvSpPr/>
          <p:nvPr/>
        </p:nvSpPr>
        <p:spPr bwMode="auto">
          <a:xfrm rot="0" flipH="0" flipV="0">
            <a:off x="9345689" y="4107890"/>
            <a:ext cx="1975433" cy="1369162"/>
          </a:xfrm>
          <a:custGeom>
            <a:avLst/>
            <a:gdLst/>
            <a:ahLst/>
            <a:cxnLst/>
            <a:rect l="l" t="t" r="r" b="b"/>
            <a:pathLst>
              <a:path w="1975433" h="1369162" fill="norm" stroke="1" extrusionOk="0">
                <a:moveTo>
                  <a:pt x="0" y="0"/>
                </a:moveTo>
                <a:lnTo>
                  <a:pt x="1975432" y="0"/>
                </a:lnTo>
                <a:lnTo>
                  <a:pt x="1975432" y="1369162"/>
                </a:lnTo>
                <a:lnTo>
                  <a:pt x="0" y="136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825538667" name="Freeform 25"/>
          <p:cNvSpPr/>
          <p:nvPr/>
        </p:nvSpPr>
        <p:spPr bwMode="auto">
          <a:xfrm rot="0" flipH="0" flipV="0">
            <a:off x="9297134" y="6631843"/>
            <a:ext cx="2072543" cy="1797186"/>
          </a:xfrm>
          <a:custGeom>
            <a:avLst/>
            <a:gdLst/>
            <a:ahLst/>
            <a:cxnLst/>
            <a:rect l="l" t="t" r="r" b="b"/>
            <a:pathLst>
              <a:path w="2072543" h="1797186" fill="norm" stroke="1" extrusionOk="0">
                <a:moveTo>
                  <a:pt x="0" y="0"/>
                </a:moveTo>
                <a:lnTo>
                  <a:pt x="2072542" y="0"/>
                </a:lnTo>
                <a:lnTo>
                  <a:pt x="2072542" y="1797186"/>
                </a:lnTo>
                <a:lnTo>
                  <a:pt x="0" y="1797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-7659" b="0"/>
            </a:stretch>
          </a:blipFill>
        </p:spPr>
      </p:sp>
      <p:sp>
        <p:nvSpPr>
          <p:cNvPr id="1820154958" name="TextBox 26"/>
          <p:cNvSpPr txBox="1"/>
          <p:nvPr/>
        </p:nvSpPr>
        <p:spPr bwMode="auto">
          <a:xfrm rot="0">
            <a:off x="351434" y="1972072"/>
            <a:ext cx="8387256" cy="59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7"/>
              </a:lnSpc>
              <a:spcBef>
                <a:spcPts val="0"/>
              </a:spcBef>
              <a:defRPr/>
            </a:pPr>
            <a:r>
              <a:rPr lang="en-US" sz="4150" spc="-124">
                <a:solidFill>
                  <a:srgbClr val="FFFFFF"/>
                </a:solidFill>
                <a:latin typeface="B612"/>
                <a:ea typeface="B612"/>
                <a:cs typeface="B612"/>
              </a:rPr>
              <a:t> Dump Yard Waste Management</a:t>
            </a:r>
            <a:endParaRPr/>
          </a:p>
        </p:txBody>
      </p:sp>
      <p:sp>
        <p:nvSpPr>
          <p:cNvPr id="1230984200" name="TextBox 27"/>
          <p:cNvSpPr txBox="1"/>
          <p:nvPr/>
        </p:nvSpPr>
        <p:spPr bwMode="auto">
          <a:xfrm rot="0">
            <a:off x="11716082" y="1142607"/>
            <a:ext cx="3763691" cy="389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2"/>
              </a:lnSpc>
              <a:defRPr/>
            </a:pPr>
            <a:r>
              <a:rPr lang="en-US" sz="2800">
                <a:solidFill>
                  <a:srgbClr val="DBFF49"/>
                </a:solidFill>
                <a:latin typeface="Poppins"/>
                <a:ea typeface="Poppins"/>
                <a:cs typeface="Poppins"/>
              </a:rPr>
              <a:t>Eco Wrap -</a:t>
            </a:r>
            <a:endParaRPr/>
          </a:p>
        </p:txBody>
      </p:sp>
      <p:sp>
        <p:nvSpPr>
          <p:cNvPr id="102244029" name="TextBox 28"/>
          <p:cNvSpPr txBox="1"/>
          <p:nvPr/>
        </p:nvSpPr>
        <p:spPr bwMode="auto">
          <a:xfrm rot="0">
            <a:off x="11716082" y="3913953"/>
            <a:ext cx="3763691" cy="40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1"/>
              </a:lnSpc>
              <a:defRPr/>
            </a:pPr>
            <a:r>
              <a:rPr lang="en-US" sz="2900">
                <a:solidFill>
                  <a:srgbClr val="DBFF49"/>
                </a:solidFill>
                <a:latin typeface="Poppins"/>
                <a:ea typeface="Poppins"/>
                <a:cs typeface="Poppins"/>
              </a:rPr>
              <a:t>Ishitva -</a:t>
            </a:r>
            <a:endParaRPr/>
          </a:p>
        </p:txBody>
      </p:sp>
      <p:sp>
        <p:nvSpPr>
          <p:cNvPr id="1906886297" name="TextBox 29"/>
          <p:cNvSpPr txBox="1"/>
          <p:nvPr/>
        </p:nvSpPr>
        <p:spPr bwMode="auto">
          <a:xfrm rot="0">
            <a:off x="11716082" y="6522340"/>
            <a:ext cx="3763691" cy="40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1"/>
              </a:lnSpc>
              <a:defRPr/>
            </a:pPr>
            <a:r>
              <a:rPr lang="en-US" sz="2900">
                <a:solidFill>
                  <a:srgbClr val="DBFF49"/>
                </a:solidFill>
                <a:latin typeface="Poppins"/>
                <a:ea typeface="Poppins"/>
                <a:cs typeface="Poppins"/>
              </a:rPr>
              <a:t>Bio Mining India - </a:t>
            </a:r>
            <a:endParaRPr/>
          </a:p>
        </p:txBody>
      </p:sp>
      <p:sp>
        <p:nvSpPr>
          <p:cNvPr id="625349093" name="TextBox 30"/>
          <p:cNvSpPr txBox="1"/>
          <p:nvPr/>
        </p:nvSpPr>
        <p:spPr bwMode="auto">
          <a:xfrm rot="0">
            <a:off x="11716082" y="2138058"/>
            <a:ext cx="4947028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899" algn="l">
              <a:lnSpc>
                <a:spcPts val="2800"/>
              </a:lnSpc>
              <a:buFont typeface="Arial"/>
              <a:buChar char="•"/>
              <a:defRPr/>
            </a:pPr>
            <a:r>
              <a:rPr lang="en-US" sz="2000">
                <a:solidFill>
                  <a:srgbClr val="06281C"/>
                </a:solidFill>
                <a:latin typeface="TT Interphases"/>
                <a:ea typeface="TT Interphases"/>
                <a:cs typeface="TT Interphases"/>
              </a:rPr>
              <a:t>waste collection &amp;segregation</a:t>
            </a:r>
            <a:endParaRPr/>
          </a:p>
          <a:p>
            <a:pPr marL="431801" lvl="1" indent="-215899" algn="l">
              <a:lnSpc>
                <a:spcPts val="2800"/>
              </a:lnSpc>
              <a:buFont typeface="Arial"/>
              <a:buChar char="•"/>
              <a:defRPr/>
            </a:pPr>
            <a:r>
              <a:rPr lang="en-US" sz="2000">
                <a:solidFill>
                  <a:srgbClr val="06281C"/>
                </a:solidFill>
                <a:latin typeface="TT Interphases"/>
                <a:ea typeface="TT Interphases"/>
                <a:cs typeface="TT Interphases"/>
              </a:rPr>
              <a:t>Recycling solutions</a:t>
            </a:r>
            <a:endParaRPr/>
          </a:p>
          <a:p>
            <a:pPr marL="431801" lvl="1" indent="-215899" algn="l">
              <a:lnSpc>
                <a:spcPts val="2800"/>
              </a:lnSpc>
              <a:buFont typeface="Arial"/>
              <a:buChar char="•"/>
              <a:defRPr/>
            </a:pPr>
            <a:r>
              <a:rPr lang="en-US" sz="2000">
                <a:solidFill>
                  <a:srgbClr val="06281C"/>
                </a:solidFill>
                <a:latin typeface="TT Interphases"/>
                <a:ea typeface="TT Interphases"/>
                <a:cs typeface="TT Interphases"/>
              </a:rPr>
              <a:t>Door-to-door collection   (~ecowrap.in)</a:t>
            </a:r>
            <a:endParaRPr/>
          </a:p>
        </p:txBody>
      </p:sp>
      <p:sp>
        <p:nvSpPr>
          <p:cNvPr id="1910344070" name="TextBox 31"/>
          <p:cNvSpPr txBox="1"/>
          <p:nvPr/>
        </p:nvSpPr>
        <p:spPr bwMode="auto">
          <a:xfrm rot="0">
            <a:off x="11716082" y="4835583"/>
            <a:ext cx="4947028" cy="102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2520"/>
              </a:lnSpc>
              <a:buFont typeface="Arial"/>
              <a:buChar char="•"/>
              <a:defRPr/>
            </a:pPr>
            <a:r>
              <a:rPr lang="en-US" sz="1800">
                <a:solidFill>
                  <a:srgbClr val="06281C"/>
                </a:solidFill>
                <a:latin typeface="TT Interphases"/>
                <a:ea typeface="TT Interphases"/>
                <a:cs typeface="TT Interphases"/>
              </a:rPr>
              <a:t>Automated waste sorting </a:t>
            </a:r>
            <a:endParaRPr/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  <a:defRPr/>
            </a:pPr>
            <a:r>
              <a:rPr lang="en-US" sz="2100">
                <a:solidFill>
                  <a:srgbClr val="06281C"/>
                </a:solidFill>
                <a:latin typeface="TT Interphases"/>
                <a:ea typeface="TT Interphases"/>
                <a:cs typeface="TT Interphases"/>
              </a:rPr>
              <a:t>Plastic &amp; metal segregation</a:t>
            </a:r>
            <a:endParaRPr/>
          </a:p>
          <a:p>
            <a:pPr marL="431801" lvl="1" indent="-215899" algn="l">
              <a:lnSpc>
                <a:spcPts val="2800"/>
              </a:lnSpc>
              <a:buFont typeface="Arial"/>
              <a:buChar char="•"/>
              <a:defRPr/>
            </a:pPr>
            <a:r>
              <a:rPr lang="en-US" sz="2000">
                <a:solidFill>
                  <a:srgbClr val="06281C"/>
                </a:solidFill>
                <a:latin typeface="TT Interphases"/>
                <a:ea typeface="TT Interphases"/>
                <a:cs typeface="TT Interphases"/>
              </a:rPr>
              <a:t>Recycling support     (~ishitva.in)</a:t>
            </a:r>
            <a:endParaRPr/>
          </a:p>
        </p:txBody>
      </p:sp>
      <p:sp>
        <p:nvSpPr>
          <p:cNvPr id="563188857" name="TextBox 32"/>
          <p:cNvSpPr txBox="1"/>
          <p:nvPr/>
        </p:nvSpPr>
        <p:spPr bwMode="auto">
          <a:xfrm rot="0">
            <a:off x="11716082" y="7482811"/>
            <a:ext cx="4947028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899" algn="l">
              <a:lnSpc>
                <a:spcPts val="2800"/>
              </a:lnSpc>
              <a:buFont typeface="Arial"/>
              <a:buChar char="•"/>
              <a:defRPr/>
            </a:pPr>
            <a:r>
              <a:rPr lang="en-US" sz="2000">
                <a:solidFill>
                  <a:srgbClr val="06281C"/>
                </a:solidFill>
                <a:latin typeface="TT Interphases"/>
                <a:ea typeface="TT Interphases"/>
                <a:cs typeface="TT Interphases"/>
              </a:rPr>
              <a:t>Excavtion of old waste </a:t>
            </a:r>
            <a:endParaRPr/>
          </a:p>
          <a:p>
            <a:pPr marL="431801" lvl="1" indent="-215899" algn="l">
              <a:lnSpc>
                <a:spcPts val="2800"/>
              </a:lnSpc>
              <a:buFont typeface="Arial"/>
              <a:buChar char="•"/>
              <a:defRPr/>
            </a:pPr>
            <a:r>
              <a:rPr lang="en-US" sz="2000">
                <a:solidFill>
                  <a:srgbClr val="06281C"/>
                </a:solidFill>
                <a:latin typeface="TT Interphases"/>
                <a:ea typeface="TT Interphases"/>
                <a:cs typeface="TT Interphases"/>
              </a:rPr>
              <a:t>Waste treatment &amp; sorting</a:t>
            </a:r>
            <a:endParaRPr/>
          </a:p>
          <a:p>
            <a:pPr marL="431801" lvl="1" indent="-215899" algn="l">
              <a:lnSpc>
                <a:spcPts val="2800"/>
              </a:lnSpc>
              <a:buFont typeface="Arial"/>
              <a:buChar char="•"/>
              <a:defRPr/>
            </a:pPr>
            <a:r>
              <a:rPr lang="en-US" sz="2000">
                <a:solidFill>
                  <a:srgbClr val="06281C"/>
                </a:solidFill>
                <a:latin typeface="TT Interphases"/>
                <a:ea typeface="TT Interphases"/>
                <a:cs typeface="TT Interphases"/>
              </a:rPr>
              <a:t>Resource recovery      (~biomining.in)</a:t>
            </a:r>
            <a:endParaRPr/>
          </a:p>
        </p:txBody>
      </p:sp>
      <p:sp>
        <p:nvSpPr>
          <p:cNvPr id="397251982" name="TextBox 33"/>
          <p:cNvSpPr txBox="1"/>
          <p:nvPr/>
        </p:nvSpPr>
        <p:spPr bwMode="auto">
          <a:xfrm rot="0">
            <a:off x="721898" y="837807"/>
            <a:ext cx="7284046" cy="88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20"/>
              </a:lnSpc>
              <a:spcBef>
                <a:spcPts val="0"/>
              </a:spcBef>
              <a:defRPr/>
            </a:pPr>
            <a:r>
              <a:rPr lang="en-US" sz="5150" b="1">
                <a:solidFill>
                  <a:srgbClr val="000000"/>
                </a:solidFill>
                <a:latin typeface="Barlow Bold"/>
                <a:ea typeface="Barlow Bold"/>
                <a:cs typeface="Barlow Bold"/>
              </a:rPr>
              <a:t>Companies Working on </a:t>
            </a:r>
            <a:endParaRPr/>
          </a:p>
        </p:txBody>
      </p:sp>
      <p:sp>
        <p:nvSpPr>
          <p:cNvPr id="1050755947" name="TextBox 34"/>
          <p:cNvSpPr txBox="1"/>
          <p:nvPr/>
        </p:nvSpPr>
        <p:spPr bwMode="auto">
          <a:xfrm rot="0">
            <a:off x="11284656" y="1551115"/>
            <a:ext cx="5809878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Tech-enabled waste management</a:t>
            </a:r>
            <a:endParaRPr/>
          </a:p>
        </p:txBody>
      </p:sp>
      <p:sp>
        <p:nvSpPr>
          <p:cNvPr id="866804795" name="TextBox 35"/>
          <p:cNvSpPr txBox="1"/>
          <p:nvPr/>
        </p:nvSpPr>
        <p:spPr bwMode="auto">
          <a:xfrm rot="0">
            <a:off x="11157114" y="4358258"/>
            <a:ext cx="5765182" cy="43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6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AI-powered automation &amp; robotics</a:t>
            </a:r>
            <a:endParaRPr/>
          </a:p>
        </p:txBody>
      </p:sp>
      <p:sp>
        <p:nvSpPr>
          <p:cNvPr id="300470165" name="TextBox 36"/>
          <p:cNvSpPr txBox="1"/>
          <p:nvPr/>
        </p:nvSpPr>
        <p:spPr bwMode="auto">
          <a:xfrm rot="0">
            <a:off x="11470236" y="6942583"/>
            <a:ext cx="5100837" cy="43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Legacy dump-site remediation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93C28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624636" name="Freeform 2"/>
          <p:cNvSpPr/>
          <p:nvPr/>
        </p:nvSpPr>
        <p:spPr bwMode="auto">
          <a:xfrm rot="0" flipH="0" flipV="0">
            <a:off x="38100" y="0"/>
            <a:ext cx="18808139" cy="10585203"/>
          </a:xfrm>
          <a:custGeom>
            <a:avLst/>
            <a:gdLst/>
            <a:ahLst/>
            <a:cxnLst/>
            <a:rect l="l" t="t" r="r" b="b"/>
            <a:pathLst>
              <a:path w="18808139" h="10585203" fill="norm" stroke="1" extrusionOk="0">
                <a:moveTo>
                  <a:pt x="0" y="0"/>
                </a:moveTo>
                <a:lnTo>
                  <a:pt x="18808139" y="0"/>
                </a:lnTo>
                <a:lnTo>
                  <a:pt x="18808139" y="10585203"/>
                </a:lnTo>
                <a:lnTo>
                  <a:pt x="0" y="10585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91652278" name="TextBox 3"/>
          <p:cNvSpPr txBox="1"/>
          <p:nvPr/>
        </p:nvSpPr>
        <p:spPr bwMode="auto">
          <a:xfrm rot="0">
            <a:off x="5520263" y="3623122"/>
            <a:ext cx="2947122" cy="43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~indianexpress.com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93C28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8420556" name="Group 2"/>
          <p:cNvGrpSpPr/>
          <p:nvPr/>
        </p:nvGrpSpPr>
        <p:grpSpPr bwMode="auto">
          <a:xfrm rot="0">
            <a:off x="0" y="0"/>
            <a:ext cx="18288000" cy="1627736"/>
            <a:chOff x="0" y="0"/>
            <a:chExt cx="4816593" cy="428704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4816592" cy="428704"/>
            </a:xfrm>
            <a:custGeom>
              <a:avLst/>
              <a:gdLst/>
              <a:ahLst/>
              <a:cxnLst/>
              <a:rect l="l" t="t" r="r" b="b"/>
              <a:pathLst>
                <a:path w="4816592" h="428704" fill="norm" stroke="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428704"/>
                  </a:lnTo>
                  <a:lnTo>
                    <a:pt x="0" y="428704"/>
                  </a:lnTo>
                  <a:close/>
                </a:path>
              </a:pathLst>
            </a:custGeom>
            <a:solidFill>
              <a:srgbClr val="0F422C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4816593" cy="46680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1513425813" name="Group 5"/>
          <p:cNvGrpSpPr/>
          <p:nvPr/>
        </p:nvGrpSpPr>
        <p:grpSpPr bwMode="auto">
          <a:xfrm rot="0">
            <a:off x="637962" y="2042860"/>
            <a:ext cx="7934538" cy="7934538"/>
            <a:chOff x="0" y="0"/>
            <a:chExt cx="2089755" cy="2089755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2089755" cy="2089755"/>
            </a:xfrm>
            <a:custGeom>
              <a:avLst/>
              <a:gdLst/>
              <a:ahLst/>
              <a:cxnLst/>
              <a:rect l="l" t="t" r="r" b="b"/>
              <a:pathLst>
                <a:path w="2089755" h="2089755" fill="norm" stroke="1" extrusionOk="0">
                  <a:moveTo>
                    <a:pt x="0" y="0"/>
                  </a:moveTo>
                  <a:lnTo>
                    <a:pt x="2089755" y="0"/>
                  </a:lnTo>
                  <a:lnTo>
                    <a:pt x="2089755" y="2089755"/>
                  </a:lnTo>
                  <a:lnTo>
                    <a:pt x="0" y="2089755"/>
                  </a:lnTo>
                  <a:close/>
                </a:path>
              </a:pathLst>
            </a:custGeom>
            <a:solidFill>
              <a:srgbClr val="3B6545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2089755" cy="212785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1276260386" name="Group 8"/>
          <p:cNvGrpSpPr/>
          <p:nvPr/>
        </p:nvGrpSpPr>
        <p:grpSpPr bwMode="auto">
          <a:xfrm rot="0">
            <a:off x="9144000" y="2042860"/>
            <a:ext cx="8115300" cy="7934538"/>
            <a:chOff x="0" y="0"/>
            <a:chExt cx="2137363" cy="2089755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2137363" cy="2089755"/>
            </a:xfrm>
            <a:custGeom>
              <a:avLst/>
              <a:gdLst/>
              <a:ahLst/>
              <a:cxnLst/>
              <a:rect l="l" t="t" r="r" b="b"/>
              <a:pathLst>
                <a:path w="2137363" h="2089755" fill="norm" stroke="1" extrusionOk="0">
                  <a:moveTo>
                    <a:pt x="0" y="0"/>
                  </a:moveTo>
                  <a:lnTo>
                    <a:pt x="2137363" y="0"/>
                  </a:lnTo>
                  <a:lnTo>
                    <a:pt x="2137363" y="2089755"/>
                  </a:lnTo>
                  <a:lnTo>
                    <a:pt x="0" y="2089755"/>
                  </a:lnTo>
                  <a:close/>
                </a:path>
              </a:pathLst>
            </a:custGeom>
            <a:solidFill>
              <a:srgbClr val="6D8A4E"/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38100"/>
              <a:ext cx="2137363" cy="212785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grpSp>
        <p:nvGrpSpPr>
          <p:cNvPr id="1643336716" name="Group 11"/>
          <p:cNvGrpSpPr/>
          <p:nvPr/>
        </p:nvGrpSpPr>
        <p:grpSpPr bwMode="auto">
          <a:xfrm rot="0">
            <a:off x="1028700" y="2228857"/>
            <a:ext cx="1152988" cy="1145647"/>
            <a:chOff x="0" y="0"/>
            <a:chExt cx="577743" cy="574065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577743" cy="574065"/>
            </a:xfrm>
            <a:custGeom>
              <a:avLst/>
              <a:gdLst/>
              <a:ahLst/>
              <a:cxnLst/>
              <a:rect l="l" t="t" r="r" b="b"/>
              <a:pathLst>
                <a:path w="577743" h="574065" fill="norm" stroke="1" extrusionOk="0">
                  <a:moveTo>
                    <a:pt x="288872" y="0"/>
                  </a:moveTo>
                  <a:cubicBezTo>
                    <a:pt x="129332" y="0"/>
                    <a:pt x="0" y="128509"/>
                    <a:pt x="0" y="287033"/>
                  </a:cubicBezTo>
                  <a:cubicBezTo>
                    <a:pt x="0" y="445556"/>
                    <a:pt x="129332" y="574065"/>
                    <a:pt x="288872" y="574065"/>
                  </a:cubicBezTo>
                  <a:cubicBezTo>
                    <a:pt x="448411" y="574065"/>
                    <a:pt x="577743" y="445556"/>
                    <a:pt x="577743" y="287033"/>
                  </a:cubicBezTo>
                  <a:cubicBezTo>
                    <a:pt x="577743" y="128509"/>
                    <a:pt x="448411" y="0"/>
                    <a:pt x="288872" y="0"/>
                  </a:cubicBezTo>
                  <a:close/>
                </a:path>
              </a:pathLst>
            </a:custGeom>
            <a:solidFill>
              <a:srgbClr val="8B9E69"/>
            </a:soli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54163" y="15719"/>
              <a:ext cx="469416" cy="5045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defRPr/>
              </a:pPr>
              <a:endParaRPr/>
            </a:p>
          </p:txBody>
        </p:sp>
      </p:grpSp>
      <p:grpSp>
        <p:nvGrpSpPr>
          <p:cNvPr id="133784340" name="Group 14"/>
          <p:cNvGrpSpPr/>
          <p:nvPr/>
        </p:nvGrpSpPr>
        <p:grpSpPr bwMode="auto">
          <a:xfrm rot="0">
            <a:off x="9364384" y="2228857"/>
            <a:ext cx="1145647" cy="114564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6545"/>
            </a:solidFill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sp>
        <p:nvSpPr>
          <p:cNvPr id="1380952960" name="Freeform 17"/>
          <p:cNvSpPr/>
          <p:nvPr/>
        </p:nvSpPr>
        <p:spPr bwMode="auto">
          <a:xfrm rot="0" flipH="0" flipV="0">
            <a:off x="1108056" y="2228857"/>
            <a:ext cx="994275" cy="912061"/>
          </a:xfrm>
          <a:custGeom>
            <a:avLst/>
            <a:gdLst/>
            <a:ahLst/>
            <a:cxnLst/>
            <a:rect l="l" t="t" r="r" b="b"/>
            <a:pathLst>
              <a:path w="994275" h="912061" fill="norm" stroke="1" extrusionOk="0">
                <a:moveTo>
                  <a:pt x="0" y="0"/>
                </a:moveTo>
                <a:lnTo>
                  <a:pt x="994276" y="0"/>
                </a:lnTo>
                <a:lnTo>
                  <a:pt x="994276" y="912061"/>
                </a:lnTo>
                <a:lnTo>
                  <a:pt x="0" y="912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2085269890" name="Freeform 18"/>
          <p:cNvSpPr/>
          <p:nvPr/>
        </p:nvSpPr>
        <p:spPr bwMode="auto">
          <a:xfrm rot="0" flipH="0" flipV="0">
            <a:off x="9434465" y="2378057"/>
            <a:ext cx="1005486" cy="847246"/>
          </a:xfrm>
          <a:custGeom>
            <a:avLst/>
            <a:gdLst/>
            <a:ahLst/>
            <a:cxnLst/>
            <a:rect l="l" t="t" r="r" b="b"/>
            <a:pathLst>
              <a:path w="1005486" h="847246" fill="norm" stroke="1" extrusionOk="0">
                <a:moveTo>
                  <a:pt x="0" y="0"/>
                </a:moveTo>
                <a:lnTo>
                  <a:pt x="1005486" y="0"/>
                </a:lnTo>
                <a:lnTo>
                  <a:pt x="1005486" y="847246"/>
                </a:lnTo>
                <a:lnTo>
                  <a:pt x="0" y="847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60974582" name="TextBox 19"/>
          <p:cNvSpPr txBox="1"/>
          <p:nvPr/>
        </p:nvSpPr>
        <p:spPr bwMode="auto">
          <a:xfrm rot="0">
            <a:off x="-1384262" y="416328"/>
            <a:ext cx="21056525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ts val="0"/>
              </a:spcBef>
              <a:defRPr/>
            </a:pPr>
            <a:r>
              <a:rPr lang="en-US" sz="3300" b="1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</a:rPr>
              <a:t>Waste Management :   India vs. Foreign Countries </a:t>
            </a:r>
            <a:endParaRPr/>
          </a:p>
        </p:txBody>
      </p:sp>
      <p:sp>
        <p:nvSpPr>
          <p:cNvPr id="1177011046" name="TextBox 20"/>
          <p:cNvSpPr txBox="1"/>
          <p:nvPr/>
        </p:nvSpPr>
        <p:spPr bwMode="auto">
          <a:xfrm rot="0">
            <a:off x="1741005" y="2618213"/>
            <a:ext cx="2600576" cy="62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ts val="0"/>
              </a:spcBef>
              <a:defRPr/>
            </a:pPr>
            <a:r>
              <a:rPr lang="en-US" sz="34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India</a:t>
            </a:r>
            <a:endParaRPr/>
          </a:p>
        </p:txBody>
      </p:sp>
      <p:sp>
        <p:nvSpPr>
          <p:cNvPr id="1210205274" name="TextBox 21"/>
          <p:cNvSpPr txBox="1"/>
          <p:nvPr/>
        </p:nvSpPr>
        <p:spPr bwMode="auto">
          <a:xfrm rot="0">
            <a:off x="10869145" y="2627738"/>
            <a:ext cx="3843446" cy="569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ts val="0"/>
              </a:spcBef>
              <a:defRPr/>
            </a:pPr>
            <a:r>
              <a:rPr lang="en-US" sz="31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Foreign Segregation</a:t>
            </a:r>
            <a:endParaRPr/>
          </a:p>
        </p:txBody>
      </p:sp>
      <p:sp>
        <p:nvSpPr>
          <p:cNvPr id="2001088356" name="TextBox 22"/>
          <p:cNvSpPr txBox="1"/>
          <p:nvPr/>
        </p:nvSpPr>
        <p:spPr bwMode="auto">
          <a:xfrm rot="0">
            <a:off x="9938365" y="3976947"/>
            <a:ext cx="6526571" cy="392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9913" lvl="1" indent="-324956" algn="l">
              <a:lnSpc>
                <a:spcPts val="4214"/>
              </a:lnSpc>
              <a:buFont typeface="Arial"/>
              <a:buChar char="•"/>
              <a:defRPr/>
            </a:pPr>
            <a:r>
              <a:rPr lang="en-US" sz="3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Waste segregated at source.</a:t>
            </a:r>
            <a:endParaRPr/>
          </a:p>
          <a:p>
            <a:pPr algn="l">
              <a:lnSpc>
                <a:spcPts val="4214"/>
              </a:lnSpc>
              <a:defRPr/>
            </a:pPr>
            <a:r>
              <a:rPr lang="en-US" sz="3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 </a:t>
            </a:r>
            <a:endParaRPr/>
          </a:p>
          <a:p>
            <a:pPr marL="649913" lvl="1" indent="-324956" algn="l">
              <a:lnSpc>
                <a:spcPts val="4214"/>
              </a:lnSpc>
              <a:buFont typeface="Arial"/>
              <a:buChar char="•"/>
              <a:defRPr/>
            </a:pPr>
            <a:r>
              <a:rPr lang="en-US" sz="3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Less waste reaches  dumping grounds. </a:t>
            </a:r>
            <a:endParaRPr/>
          </a:p>
          <a:p>
            <a:pPr algn="l">
              <a:lnSpc>
                <a:spcPts val="4214"/>
              </a:lnSpc>
              <a:defRPr/>
            </a:pPr>
            <a:endParaRPr lang="en-US" sz="3000" b="1">
              <a:solidFill>
                <a:srgbClr val="000000"/>
              </a:solidFill>
              <a:latin typeface="Helvetica World Bold"/>
              <a:ea typeface="Helvetica World Bold"/>
              <a:cs typeface="Helvetica World Bold"/>
            </a:endParaRPr>
          </a:p>
          <a:p>
            <a:pPr marL="649913" lvl="1" indent="-324956" algn="l">
              <a:lnSpc>
                <a:spcPts val="4214"/>
              </a:lnSpc>
              <a:buFont typeface="Arial"/>
              <a:buChar char="•"/>
              <a:defRPr/>
            </a:pPr>
            <a:r>
              <a:rPr lang="en-US" sz="30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Waste-to-energy used at large scale. </a:t>
            </a:r>
            <a:endParaRPr/>
          </a:p>
        </p:txBody>
      </p:sp>
      <p:sp>
        <p:nvSpPr>
          <p:cNvPr id="2048848880" name="TextBox 23"/>
          <p:cNvSpPr txBox="1"/>
          <p:nvPr/>
        </p:nvSpPr>
        <p:spPr bwMode="auto">
          <a:xfrm rot="0">
            <a:off x="1028700" y="3976947"/>
            <a:ext cx="7543800" cy="5186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2308" lvl="1" indent="-336155" algn="l">
              <a:lnSpc>
                <a:spcPts val="4359"/>
              </a:lnSpc>
              <a:buFont typeface="Arial"/>
              <a:buChar char="•"/>
              <a:defRPr/>
            </a:pPr>
            <a:r>
              <a:rPr lang="en-US" sz="31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Four-way segregation at dump yards.</a:t>
            </a:r>
            <a:endParaRPr/>
          </a:p>
          <a:p>
            <a:pPr algn="l">
              <a:lnSpc>
                <a:spcPts val="4359"/>
              </a:lnSpc>
              <a:defRPr/>
            </a:pPr>
            <a:endParaRPr lang="en-US" sz="3100" b="1">
              <a:solidFill>
                <a:srgbClr val="000000"/>
              </a:solidFill>
              <a:latin typeface="Helvetica World Bold"/>
              <a:ea typeface="Helvetica World Bold"/>
              <a:cs typeface="Helvetica World Bold"/>
            </a:endParaRPr>
          </a:p>
          <a:p>
            <a:pPr marL="672308" lvl="1" indent="-336155" algn="l">
              <a:lnSpc>
                <a:spcPts val="4359"/>
              </a:lnSpc>
              <a:buFont typeface="Arial"/>
              <a:buChar char="•"/>
              <a:defRPr/>
            </a:pPr>
            <a:r>
              <a:rPr lang="en-US" sz="31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All the waste that’s been collected is sent to dumping grounds.</a:t>
            </a:r>
            <a:endParaRPr/>
          </a:p>
          <a:p>
            <a:pPr algn="l">
              <a:lnSpc>
                <a:spcPts val="4359"/>
              </a:lnSpc>
              <a:defRPr/>
            </a:pPr>
            <a:endParaRPr lang="en-US" sz="3100" b="1">
              <a:solidFill>
                <a:srgbClr val="000000"/>
              </a:solidFill>
              <a:latin typeface="Helvetica World Bold"/>
              <a:ea typeface="Helvetica World Bold"/>
              <a:cs typeface="Helvetica World Bold"/>
            </a:endParaRPr>
          </a:p>
          <a:p>
            <a:pPr marL="672308" lvl="1" indent="-336155" algn="l">
              <a:lnSpc>
                <a:spcPts val="4359"/>
              </a:lnSpc>
              <a:buFont typeface="Arial"/>
              <a:buChar char="•"/>
              <a:defRPr/>
            </a:pPr>
            <a:r>
              <a:rPr lang="en-US" sz="31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Fresh waste dumping restricted at remediation sites [Rule 15(7)].</a:t>
            </a:r>
            <a:endParaRPr/>
          </a:p>
          <a:p>
            <a:pPr algn="l">
              <a:lnSpc>
                <a:spcPts val="4359"/>
              </a:lnSpc>
              <a:defRPr/>
            </a:pPr>
            <a:r>
              <a:rPr lang="en-US" sz="31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</a:rPr>
              <a:t>                                                                          </a:t>
            </a:r>
            <a:endParaRPr/>
          </a:p>
        </p:txBody>
      </p:sp>
      <p:sp>
        <p:nvSpPr>
          <p:cNvPr id="267007183" name="TextBox 24"/>
          <p:cNvSpPr txBox="1"/>
          <p:nvPr/>
        </p:nvSpPr>
        <p:spPr bwMode="auto">
          <a:xfrm rot="0">
            <a:off x="12790868" y="8082207"/>
            <a:ext cx="4203094" cy="35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7"/>
              </a:lnSpc>
              <a:spcBef>
                <a:spcPts val="0"/>
              </a:spcBef>
              <a:defRPr/>
            </a:pPr>
            <a:r>
              <a:rPr lang="en-US" sz="2050" b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~(env.go.ip) (avfallsverige.se)</a:t>
            </a:r>
            <a:endParaRPr/>
          </a:p>
        </p:txBody>
      </p:sp>
      <p:sp>
        <p:nvSpPr>
          <p:cNvPr id="1798780100" name="TextBox 25"/>
          <p:cNvSpPr txBox="1"/>
          <p:nvPr/>
        </p:nvSpPr>
        <p:spPr bwMode="auto">
          <a:xfrm rot="0">
            <a:off x="5978965" y="8960765"/>
            <a:ext cx="2418741" cy="36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8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(mcgm.gov.in)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121854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-7743" t="-11022" r="-43651" b="0"/>
            </a:stretch>
          </a:blipFill>
        </p:spPr>
      </p:sp>
      <p:grpSp>
        <p:nvGrpSpPr>
          <p:cNvPr id="2095747403" name="Group 3"/>
          <p:cNvGrpSpPr/>
          <p:nvPr/>
        </p:nvGrpSpPr>
        <p:grpSpPr bwMode="auto">
          <a:xfrm rot="0">
            <a:off x="0" y="4912076"/>
            <a:ext cx="18288000" cy="4275324"/>
            <a:chOff x="0" y="0"/>
            <a:chExt cx="4816593" cy="112601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4816592" cy="1126011"/>
            </a:xfrm>
            <a:custGeom>
              <a:avLst/>
              <a:gdLst/>
              <a:ahLst/>
              <a:cxnLst/>
              <a:rect l="l" t="t" r="r" b="b"/>
              <a:pathLst>
                <a:path w="4816592" h="1126011" fill="norm" stroke="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126011"/>
                  </a:lnTo>
                  <a:lnTo>
                    <a:pt x="0" y="11260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4816593" cy="11736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defRPr/>
              </a:pPr>
              <a:endParaRPr/>
            </a:p>
          </p:txBody>
        </p:sp>
      </p:grpSp>
      <p:grpSp>
        <p:nvGrpSpPr>
          <p:cNvPr id="1028358728" name="Group 6"/>
          <p:cNvGrpSpPr/>
          <p:nvPr/>
        </p:nvGrpSpPr>
        <p:grpSpPr bwMode="auto">
          <a:xfrm rot="0">
            <a:off x="861652" y="1264072"/>
            <a:ext cx="16893642" cy="2207424"/>
            <a:chOff x="0" y="0"/>
            <a:chExt cx="4449354" cy="581379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4449354" cy="581379"/>
            </a:xfrm>
            <a:custGeom>
              <a:avLst/>
              <a:gdLst/>
              <a:ahLst/>
              <a:cxnLst/>
              <a:rect l="l" t="t" r="r" b="b"/>
              <a:pathLst>
                <a:path w="4449354" h="581379" fill="norm" stroke="1" extrusionOk="0">
                  <a:moveTo>
                    <a:pt x="0" y="0"/>
                  </a:moveTo>
                  <a:lnTo>
                    <a:pt x="4449354" y="0"/>
                  </a:lnTo>
                  <a:lnTo>
                    <a:pt x="4449354" y="581379"/>
                  </a:lnTo>
                  <a:lnTo>
                    <a:pt x="0" y="581379"/>
                  </a:lnTo>
                  <a:close/>
                </a:path>
              </a:pathLst>
            </a:custGeom>
            <a:grpFill/>
            <a:ln w="95250" cap="sq">
              <a:solidFill>
                <a:srgbClr val="0A3E1A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47625"/>
              <a:ext cx="4449354" cy="62900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defRPr/>
              </a:pPr>
              <a:endParaRPr/>
            </a:p>
          </p:txBody>
        </p:sp>
      </p:grpSp>
      <p:grpSp>
        <p:nvGrpSpPr>
          <p:cNvPr id="2130908029" name="Group 9"/>
          <p:cNvGrpSpPr/>
          <p:nvPr/>
        </p:nvGrpSpPr>
        <p:grpSpPr bwMode="auto">
          <a:xfrm rot="0">
            <a:off x="3630775" y="3983298"/>
            <a:ext cx="1857554" cy="185755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E6BA"/>
            </a:solidFill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76200" y="28575"/>
              <a:ext cx="660400" cy="7080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defRPr/>
              </a:pPr>
              <a:endParaRPr/>
            </a:p>
          </p:txBody>
        </p:sp>
      </p:grpSp>
      <p:grpSp>
        <p:nvGrpSpPr>
          <p:cNvPr id="903088966" name="Group 12"/>
          <p:cNvGrpSpPr/>
          <p:nvPr/>
        </p:nvGrpSpPr>
        <p:grpSpPr bwMode="auto">
          <a:xfrm rot="0">
            <a:off x="12799671" y="3983298"/>
            <a:ext cx="1857554" cy="185755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E6BA"/>
            </a:solidFill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76200" y="28575"/>
              <a:ext cx="660400" cy="7080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defRPr/>
              </a:pPr>
              <a:endParaRPr/>
            </a:p>
          </p:txBody>
        </p:sp>
      </p:grpSp>
      <p:sp>
        <p:nvSpPr>
          <p:cNvPr id="948006974" name="Freeform 15"/>
          <p:cNvSpPr/>
          <p:nvPr/>
        </p:nvSpPr>
        <p:spPr bwMode="auto">
          <a:xfrm rot="0" flipH="0" flipV="0">
            <a:off x="3886853" y="4365657"/>
            <a:ext cx="1345399" cy="1092838"/>
          </a:xfrm>
          <a:custGeom>
            <a:avLst/>
            <a:gdLst/>
            <a:ahLst/>
            <a:cxnLst/>
            <a:rect l="l" t="t" r="r" b="b"/>
            <a:pathLst>
              <a:path w="1345399" h="1092838" fill="norm" stroke="1" extrusionOk="0">
                <a:moveTo>
                  <a:pt x="0" y="0"/>
                </a:moveTo>
                <a:lnTo>
                  <a:pt x="1345398" y="0"/>
                </a:lnTo>
                <a:lnTo>
                  <a:pt x="1345398" y="1092838"/>
                </a:lnTo>
                <a:lnTo>
                  <a:pt x="0" y="10928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-9395" t="0" r="-13420" b="0"/>
            </a:stretch>
          </a:blipFill>
        </p:spPr>
      </p:sp>
      <p:sp>
        <p:nvSpPr>
          <p:cNvPr id="744768630" name="Freeform 16"/>
          <p:cNvSpPr/>
          <p:nvPr/>
        </p:nvSpPr>
        <p:spPr bwMode="auto">
          <a:xfrm rot="0" flipH="0" flipV="0">
            <a:off x="13072681" y="4365657"/>
            <a:ext cx="1311535" cy="1139530"/>
          </a:xfrm>
          <a:custGeom>
            <a:avLst/>
            <a:gdLst/>
            <a:ahLst/>
            <a:cxnLst/>
            <a:rect l="l" t="t" r="r" b="b"/>
            <a:pathLst>
              <a:path w="1311535" h="1139530" fill="norm" stroke="1" extrusionOk="0">
                <a:moveTo>
                  <a:pt x="0" y="0"/>
                </a:moveTo>
                <a:lnTo>
                  <a:pt x="1311534" y="0"/>
                </a:lnTo>
                <a:lnTo>
                  <a:pt x="1311534" y="1139530"/>
                </a:lnTo>
                <a:lnTo>
                  <a:pt x="0" y="1139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830823226" name="TextBox 17"/>
          <p:cNvSpPr txBox="1"/>
          <p:nvPr/>
        </p:nvSpPr>
        <p:spPr bwMode="auto">
          <a:xfrm rot="0">
            <a:off x="2171526" y="1195109"/>
            <a:ext cx="13944948" cy="223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66"/>
              </a:lnSpc>
              <a:defRPr/>
            </a:pPr>
            <a:r>
              <a:rPr lang="en-US" sz="6250" b="1" spc="250">
                <a:solidFill>
                  <a:srgbClr val="FBFADA"/>
                </a:solidFill>
                <a:latin typeface="Poppins Bold"/>
                <a:ea typeface="Poppins Bold"/>
                <a:cs typeface="Poppins Bold"/>
              </a:rPr>
              <a:t>HOW SEGREGATION WOULD BE DONE </a:t>
            </a:r>
            <a:endParaRPr/>
          </a:p>
        </p:txBody>
      </p:sp>
      <p:sp>
        <p:nvSpPr>
          <p:cNvPr id="1839125712" name="TextBox 18"/>
          <p:cNvSpPr txBox="1"/>
          <p:nvPr/>
        </p:nvSpPr>
        <p:spPr bwMode="auto">
          <a:xfrm rot="0">
            <a:off x="697179" y="6136362"/>
            <a:ext cx="7724746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0"/>
              </a:lnSpc>
              <a:defRPr/>
            </a:pPr>
            <a:r>
              <a:rPr lang="en-US" sz="3100" b="1" spc="465">
                <a:solidFill>
                  <a:srgbClr val="06281C"/>
                </a:solidFill>
                <a:latin typeface="DM Sans Bold"/>
                <a:ea typeface="DM Sans Bold"/>
                <a:cs typeface="DM Sans Bold"/>
              </a:rPr>
              <a:t>BIO-DEGRADABLE WASTE </a:t>
            </a:r>
            <a:endParaRPr/>
          </a:p>
        </p:txBody>
      </p:sp>
      <p:sp>
        <p:nvSpPr>
          <p:cNvPr id="1397035385" name="TextBox 19"/>
          <p:cNvSpPr txBox="1"/>
          <p:nvPr/>
        </p:nvSpPr>
        <p:spPr bwMode="auto">
          <a:xfrm rot="0">
            <a:off x="9866075" y="6136362"/>
            <a:ext cx="7724746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0"/>
              </a:lnSpc>
              <a:defRPr/>
            </a:pPr>
            <a:r>
              <a:rPr lang="en-US" sz="3100" b="1" spc="465">
                <a:solidFill>
                  <a:srgbClr val="06281C"/>
                </a:solidFill>
                <a:latin typeface="DM Sans Bold"/>
                <a:ea typeface="DM Sans Bold"/>
                <a:cs typeface="DM Sans Bold"/>
              </a:rPr>
              <a:t>NON-BIODEGRADABLE WASTE </a:t>
            </a:r>
            <a:endParaRPr/>
          </a:p>
        </p:txBody>
      </p:sp>
      <p:sp>
        <p:nvSpPr>
          <p:cNvPr id="57758274" name="TextBox 20"/>
          <p:cNvSpPr txBox="1"/>
          <p:nvPr/>
        </p:nvSpPr>
        <p:spPr bwMode="auto">
          <a:xfrm rot="0">
            <a:off x="1419254" y="6865482"/>
            <a:ext cx="7724746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3" lvl="1" indent="-226697" algn="l">
              <a:lnSpc>
                <a:spcPts val="2940"/>
              </a:lnSpc>
              <a:buFont typeface="Arial"/>
              <a:buChar char="•"/>
              <a:defRPr/>
            </a:pPr>
            <a:r>
              <a:rPr lang="en-US" sz="2100" spc="420">
                <a:solidFill>
                  <a:srgbClr val="06281C"/>
                </a:solidFill>
                <a:latin typeface="Nunito"/>
                <a:ea typeface="Nunito"/>
                <a:cs typeface="Nunito"/>
              </a:rPr>
              <a:t>Naturally decomposes </a:t>
            </a:r>
            <a:endParaRPr/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  <a:defRPr/>
            </a:pPr>
            <a:r>
              <a:rPr lang="en-US" sz="2100" spc="420">
                <a:solidFill>
                  <a:srgbClr val="06281C"/>
                </a:solidFill>
                <a:latin typeface="Nunito"/>
                <a:ea typeface="Nunito"/>
                <a:cs typeface="Nunito"/>
              </a:rPr>
              <a:t>Sent for composting </a:t>
            </a:r>
            <a:endParaRPr/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  <a:defRPr/>
            </a:pPr>
            <a:r>
              <a:rPr lang="en-US" sz="2100" spc="420">
                <a:solidFill>
                  <a:srgbClr val="06281C"/>
                </a:solidFill>
                <a:latin typeface="Nunito"/>
                <a:ea typeface="Nunito"/>
                <a:cs typeface="Nunito"/>
              </a:rPr>
              <a:t>Used for biogas/agriculture </a:t>
            </a:r>
            <a:endParaRPr/>
          </a:p>
        </p:txBody>
      </p:sp>
      <p:sp>
        <p:nvSpPr>
          <p:cNvPr id="1729086235" name="TextBox 21"/>
          <p:cNvSpPr txBox="1"/>
          <p:nvPr/>
        </p:nvSpPr>
        <p:spPr bwMode="auto">
          <a:xfrm rot="0">
            <a:off x="10300385" y="6865482"/>
            <a:ext cx="8167661" cy="109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1290" lvl="1" indent="-225645" algn="l">
              <a:lnSpc>
                <a:spcPts val="2926"/>
              </a:lnSpc>
              <a:buFont typeface="Arial"/>
              <a:buChar char="•"/>
              <a:defRPr/>
            </a:pPr>
            <a:r>
              <a:rPr lang="en-US" sz="2100" spc="418">
                <a:solidFill>
                  <a:srgbClr val="06281C"/>
                </a:solidFill>
                <a:latin typeface="Nunito"/>
                <a:ea typeface="Nunito"/>
                <a:cs typeface="Nunito"/>
              </a:rPr>
              <a:t>Plastic, metal &amp; glass  </a:t>
            </a:r>
            <a:endParaRPr/>
          </a:p>
          <a:p>
            <a:pPr marL="451290" lvl="1" indent="-225645" algn="l">
              <a:lnSpc>
                <a:spcPts val="2926"/>
              </a:lnSpc>
              <a:buFont typeface="Arial"/>
              <a:buChar char="•"/>
              <a:defRPr/>
            </a:pPr>
            <a:r>
              <a:rPr lang="en-US" sz="2100" spc="418">
                <a:solidFill>
                  <a:srgbClr val="06281C"/>
                </a:solidFill>
                <a:latin typeface="Nunito"/>
                <a:ea typeface="Nunito"/>
                <a:cs typeface="Nunito"/>
              </a:rPr>
              <a:t>E-waste &amp; medical waste </a:t>
            </a:r>
            <a:endParaRPr/>
          </a:p>
          <a:p>
            <a:pPr marL="451290" lvl="1" indent="-225645" algn="l">
              <a:lnSpc>
                <a:spcPts val="2926"/>
              </a:lnSpc>
              <a:buFont typeface="Arial"/>
              <a:buChar char="•"/>
              <a:defRPr/>
            </a:pPr>
            <a:r>
              <a:rPr lang="en-US" sz="2100" spc="418">
                <a:solidFill>
                  <a:srgbClr val="06281C"/>
                </a:solidFill>
                <a:latin typeface="Nunito"/>
                <a:ea typeface="Nunito"/>
                <a:cs typeface="Nunito"/>
              </a:rPr>
              <a:t>Residue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B6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9872954" name="Group 2"/>
          <p:cNvGrpSpPr/>
          <p:nvPr/>
        </p:nvGrpSpPr>
        <p:grpSpPr bwMode="auto">
          <a:xfrm rot="0">
            <a:off x="1835724" y="2566564"/>
            <a:ext cx="3316009" cy="2993734"/>
            <a:chOff x="0" y="0"/>
            <a:chExt cx="873352" cy="78847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73352" cy="788473"/>
            </a:xfrm>
            <a:custGeom>
              <a:avLst/>
              <a:gdLst/>
              <a:ahLst/>
              <a:cxnLst/>
              <a:rect l="l" t="t" r="r" b="b"/>
              <a:pathLst>
                <a:path w="873352" h="788473" fill="norm" stroke="1" extrusionOk="0">
                  <a:moveTo>
                    <a:pt x="0" y="0"/>
                  </a:moveTo>
                  <a:lnTo>
                    <a:pt x="873352" y="0"/>
                  </a:lnTo>
                  <a:lnTo>
                    <a:pt x="873352" y="788473"/>
                  </a:lnTo>
                  <a:lnTo>
                    <a:pt x="0" y="788473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28575"/>
              <a:ext cx="873352" cy="81704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621842536" name="Group 5"/>
          <p:cNvGrpSpPr/>
          <p:nvPr/>
        </p:nvGrpSpPr>
        <p:grpSpPr bwMode="auto">
          <a:xfrm rot="0">
            <a:off x="7938970" y="2543473"/>
            <a:ext cx="3086100" cy="3039917"/>
            <a:chOff x="0" y="0"/>
            <a:chExt cx="812800" cy="800637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812800" cy="800636"/>
            </a:xfrm>
            <a:custGeom>
              <a:avLst/>
              <a:gdLst/>
              <a:ahLst/>
              <a:cxnLst/>
              <a:rect l="l" t="t" r="r" b="b"/>
              <a:pathLst>
                <a:path w="812800" h="800636" fill="norm" stroke="1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00636"/>
                  </a:lnTo>
                  <a:lnTo>
                    <a:pt x="0" y="800636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28575"/>
              <a:ext cx="812800" cy="82921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1911785084" name="Group 8"/>
          <p:cNvGrpSpPr/>
          <p:nvPr/>
        </p:nvGrpSpPr>
        <p:grpSpPr bwMode="auto">
          <a:xfrm rot="0">
            <a:off x="13625853" y="2543473"/>
            <a:ext cx="3086100" cy="3132283"/>
            <a:chOff x="0" y="0"/>
            <a:chExt cx="812800" cy="82496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812800" cy="824964"/>
            </a:xfrm>
            <a:custGeom>
              <a:avLst/>
              <a:gdLst/>
              <a:ahLst/>
              <a:cxnLst/>
              <a:rect l="l" t="t" r="r" b="b"/>
              <a:pathLst>
                <a:path w="812800" h="824964" fill="norm" stroke="1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24964"/>
                  </a:lnTo>
                  <a:lnTo>
                    <a:pt x="0" y="824964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28575"/>
              <a:ext cx="812800" cy="85353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907282908" name="Group 11"/>
          <p:cNvGrpSpPr/>
          <p:nvPr/>
        </p:nvGrpSpPr>
        <p:grpSpPr bwMode="auto">
          <a:xfrm rot="0">
            <a:off x="1835724" y="6465173"/>
            <a:ext cx="3316009" cy="3086100"/>
            <a:chOff x="0" y="0"/>
            <a:chExt cx="873352" cy="81280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873352" cy="812800"/>
            </a:xfrm>
            <a:custGeom>
              <a:avLst/>
              <a:gdLst/>
              <a:ahLst/>
              <a:cxnLst/>
              <a:rect l="l" t="t" r="r" b="b"/>
              <a:pathLst>
                <a:path w="873352" h="812800" fill="norm" stroke="1" extrusionOk="0">
                  <a:moveTo>
                    <a:pt x="0" y="0"/>
                  </a:moveTo>
                  <a:lnTo>
                    <a:pt x="873352" y="0"/>
                  </a:lnTo>
                  <a:lnTo>
                    <a:pt x="8733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28575"/>
              <a:ext cx="873352" cy="8413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1578966411" name="Group 14"/>
          <p:cNvGrpSpPr/>
          <p:nvPr/>
        </p:nvGrpSpPr>
        <p:grpSpPr bwMode="auto">
          <a:xfrm rot="0">
            <a:off x="7938970" y="6559620"/>
            <a:ext cx="3086100" cy="308610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0" y="-28575"/>
              <a:ext cx="812800" cy="8413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1560968564" name="Group 17"/>
          <p:cNvGrpSpPr/>
          <p:nvPr/>
        </p:nvGrpSpPr>
        <p:grpSpPr bwMode="auto">
          <a:xfrm rot="0">
            <a:off x="13625853" y="6559620"/>
            <a:ext cx="3086100" cy="30861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EE6A5"/>
            </a:solidFill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0" y="-28575"/>
              <a:ext cx="812800" cy="8413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1032083150" name="Group 20"/>
          <p:cNvGrpSpPr/>
          <p:nvPr/>
        </p:nvGrpSpPr>
        <p:grpSpPr bwMode="auto">
          <a:xfrm rot="0">
            <a:off x="2788614" y="2846600"/>
            <a:ext cx="1577518" cy="1577518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9E69"/>
            </a:solid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962454007" name="Group 23"/>
          <p:cNvGrpSpPr/>
          <p:nvPr/>
        </p:nvGrpSpPr>
        <p:grpSpPr bwMode="auto">
          <a:xfrm rot="0">
            <a:off x="8776907" y="2846600"/>
            <a:ext cx="1577518" cy="1577518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9E69"/>
            </a:soli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196875770" name="Group 26"/>
          <p:cNvGrpSpPr/>
          <p:nvPr/>
        </p:nvGrpSpPr>
        <p:grpSpPr bwMode="auto">
          <a:xfrm rot="0">
            <a:off x="14479600" y="2878220"/>
            <a:ext cx="1556438" cy="1556438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9E69"/>
            </a:solidFill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813619925" name="Group 29"/>
          <p:cNvGrpSpPr/>
          <p:nvPr/>
        </p:nvGrpSpPr>
        <p:grpSpPr bwMode="auto">
          <a:xfrm rot="0">
            <a:off x="2672673" y="6750923"/>
            <a:ext cx="1526168" cy="1526168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9E69"/>
            </a:solidFill>
          </p:spPr>
        </p:sp>
        <p:sp>
          <p:nvSpPr>
            <p:cNvPr id="31" name="TextBox 31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1475671692" name="Group 32"/>
          <p:cNvGrpSpPr/>
          <p:nvPr/>
        </p:nvGrpSpPr>
        <p:grpSpPr bwMode="auto">
          <a:xfrm rot="0">
            <a:off x="8682046" y="6774014"/>
            <a:ext cx="1556438" cy="1556438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9E69"/>
            </a:solidFill>
          </p:spPr>
        </p:sp>
        <p:sp>
          <p:nvSpPr>
            <p:cNvPr id="34" name="TextBox 3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grpSp>
        <p:nvGrpSpPr>
          <p:cNvPr id="665173491" name="Group 35"/>
          <p:cNvGrpSpPr/>
          <p:nvPr/>
        </p:nvGrpSpPr>
        <p:grpSpPr bwMode="auto">
          <a:xfrm rot="0">
            <a:off x="14479600" y="6750923"/>
            <a:ext cx="1682919" cy="1682919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9E69"/>
            </a:solidFill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defRPr/>
              </a:pPr>
              <a:endParaRPr/>
            </a:p>
          </p:txBody>
        </p:sp>
      </p:grpSp>
      <p:sp>
        <p:nvSpPr>
          <p:cNvPr id="1883210618" name="Freeform 38"/>
          <p:cNvSpPr/>
          <p:nvPr/>
        </p:nvSpPr>
        <p:spPr bwMode="auto">
          <a:xfrm rot="0" flipH="0" flipV="0">
            <a:off x="2796913" y="3180758"/>
            <a:ext cx="1569219" cy="951361"/>
          </a:xfrm>
          <a:custGeom>
            <a:avLst/>
            <a:gdLst/>
            <a:ahLst/>
            <a:cxnLst/>
            <a:rect l="l" t="t" r="r" b="b"/>
            <a:pathLst>
              <a:path w="1569219" h="951361" fill="norm" stroke="1" extrusionOk="0">
                <a:moveTo>
                  <a:pt x="0" y="0"/>
                </a:moveTo>
                <a:lnTo>
                  <a:pt x="1569219" y="0"/>
                </a:lnTo>
                <a:lnTo>
                  <a:pt x="1569219" y="951361"/>
                </a:lnTo>
                <a:lnTo>
                  <a:pt x="0" y="951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558356791" name="Freeform 39"/>
          <p:cNvSpPr/>
          <p:nvPr/>
        </p:nvSpPr>
        <p:spPr bwMode="auto">
          <a:xfrm rot="0" flipH="0" flipV="0">
            <a:off x="9009207" y="2846600"/>
            <a:ext cx="1112918" cy="1376805"/>
          </a:xfrm>
          <a:custGeom>
            <a:avLst/>
            <a:gdLst/>
            <a:ahLst/>
            <a:cxnLst/>
            <a:rect l="l" t="t" r="r" b="b"/>
            <a:pathLst>
              <a:path w="1112918" h="1376805" fill="norm" stroke="1" extrusionOk="0">
                <a:moveTo>
                  <a:pt x="0" y="0"/>
                </a:moveTo>
                <a:lnTo>
                  <a:pt x="1112917" y="0"/>
                </a:lnTo>
                <a:lnTo>
                  <a:pt x="1112917" y="1376805"/>
                </a:lnTo>
                <a:lnTo>
                  <a:pt x="0" y="13768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387147292" name="Freeform 40"/>
          <p:cNvSpPr/>
          <p:nvPr/>
        </p:nvSpPr>
        <p:spPr bwMode="auto">
          <a:xfrm rot="0" flipH="0" flipV="0">
            <a:off x="14568388" y="3140669"/>
            <a:ext cx="1378861" cy="1283449"/>
          </a:xfrm>
          <a:custGeom>
            <a:avLst/>
            <a:gdLst/>
            <a:ahLst/>
            <a:cxnLst/>
            <a:rect l="l" t="t" r="r" b="b"/>
            <a:pathLst>
              <a:path w="1378861" h="1283449" fill="norm" stroke="1" extrusionOk="0">
                <a:moveTo>
                  <a:pt x="0" y="0"/>
                </a:moveTo>
                <a:lnTo>
                  <a:pt x="1378861" y="0"/>
                </a:lnTo>
                <a:lnTo>
                  <a:pt x="1378861" y="1283449"/>
                </a:lnTo>
                <a:lnTo>
                  <a:pt x="0" y="12834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766766580" name="Freeform 41"/>
          <p:cNvSpPr/>
          <p:nvPr/>
        </p:nvSpPr>
        <p:spPr bwMode="auto">
          <a:xfrm rot="0" flipH="0" flipV="0">
            <a:off x="2672673" y="6941578"/>
            <a:ext cx="1502354" cy="1301608"/>
          </a:xfrm>
          <a:custGeom>
            <a:avLst/>
            <a:gdLst/>
            <a:ahLst/>
            <a:cxnLst/>
            <a:rect l="l" t="t" r="r" b="b"/>
            <a:pathLst>
              <a:path w="1502354" h="1301608" fill="norm" stroke="1" extrusionOk="0">
                <a:moveTo>
                  <a:pt x="0" y="0"/>
                </a:moveTo>
                <a:lnTo>
                  <a:pt x="1502353" y="0"/>
                </a:lnTo>
                <a:lnTo>
                  <a:pt x="1502353" y="1301608"/>
                </a:lnTo>
                <a:lnTo>
                  <a:pt x="0" y="130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301532709" name="Freeform 42"/>
          <p:cNvSpPr/>
          <p:nvPr/>
        </p:nvSpPr>
        <p:spPr bwMode="auto">
          <a:xfrm rot="0" flipH="0" flipV="0">
            <a:off x="8871551" y="6959289"/>
            <a:ext cx="1250573" cy="1143381"/>
          </a:xfrm>
          <a:custGeom>
            <a:avLst/>
            <a:gdLst/>
            <a:ahLst/>
            <a:cxnLst/>
            <a:rect l="l" t="t" r="r" b="b"/>
            <a:pathLst>
              <a:path w="1250573" h="1143381" fill="norm" stroke="1" extrusionOk="0">
                <a:moveTo>
                  <a:pt x="0" y="0"/>
                </a:moveTo>
                <a:lnTo>
                  <a:pt x="1250573" y="0"/>
                </a:lnTo>
                <a:lnTo>
                  <a:pt x="1250573" y="1143381"/>
                </a:lnTo>
                <a:lnTo>
                  <a:pt x="0" y="1143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1544922396" name="Freeform 43"/>
          <p:cNvSpPr/>
          <p:nvPr/>
        </p:nvSpPr>
        <p:spPr bwMode="auto">
          <a:xfrm rot="0" flipH="0" flipV="0">
            <a:off x="14587233" y="7070833"/>
            <a:ext cx="1467650" cy="1043099"/>
          </a:xfrm>
          <a:custGeom>
            <a:avLst/>
            <a:gdLst/>
            <a:ahLst/>
            <a:cxnLst/>
            <a:rect l="l" t="t" r="r" b="b"/>
            <a:pathLst>
              <a:path w="1467650" h="1043099" fill="norm" stroke="1" extrusionOk="0">
                <a:moveTo>
                  <a:pt x="0" y="0"/>
                </a:moveTo>
                <a:lnTo>
                  <a:pt x="1467650" y="0"/>
                </a:lnTo>
                <a:lnTo>
                  <a:pt x="1467650" y="1043099"/>
                </a:lnTo>
                <a:lnTo>
                  <a:pt x="0" y="10430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-1983" t="0" r="0" b="0"/>
            </a:stretch>
          </a:blipFill>
        </p:spPr>
      </p:sp>
      <p:sp>
        <p:nvSpPr>
          <p:cNvPr id="102813172" name="TextBox 44"/>
          <p:cNvSpPr txBox="1"/>
          <p:nvPr/>
        </p:nvSpPr>
        <p:spPr bwMode="auto">
          <a:xfrm rot="0">
            <a:off x="350370" y="942975"/>
            <a:ext cx="14123192" cy="716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6"/>
              </a:lnSpc>
              <a:spcBef>
                <a:spcPts val="0"/>
              </a:spcBef>
              <a:defRPr/>
            </a:pPr>
            <a:r>
              <a:rPr lang="en-US" sz="420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Results of Cleaning Dumping Grounds Across India </a:t>
            </a:r>
            <a:endParaRPr/>
          </a:p>
        </p:txBody>
      </p:sp>
      <p:sp>
        <p:nvSpPr>
          <p:cNvPr id="172053334" name="TextBox 45"/>
          <p:cNvSpPr txBox="1"/>
          <p:nvPr/>
        </p:nvSpPr>
        <p:spPr bwMode="auto">
          <a:xfrm rot="0">
            <a:off x="350674" y="1688343"/>
            <a:ext cx="11688921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What we recover once dumping grounds are cleaned and waste is properly segregated ?</a:t>
            </a:r>
            <a:endParaRPr/>
          </a:p>
        </p:txBody>
      </p:sp>
      <p:sp>
        <p:nvSpPr>
          <p:cNvPr id="1992261495" name="TextBox 46"/>
          <p:cNvSpPr txBox="1"/>
          <p:nvPr/>
        </p:nvSpPr>
        <p:spPr bwMode="auto">
          <a:xfrm rot="0">
            <a:off x="3463854" y="4813300"/>
            <a:ext cx="59748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 </a:t>
            </a:r>
            <a:endParaRPr/>
          </a:p>
        </p:txBody>
      </p:sp>
      <p:sp>
        <p:nvSpPr>
          <p:cNvPr id="1585427434" name="TextBox 47"/>
          <p:cNvSpPr txBox="1"/>
          <p:nvPr/>
        </p:nvSpPr>
        <p:spPr bwMode="auto">
          <a:xfrm rot="0">
            <a:off x="13933303" y="4662487"/>
            <a:ext cx="264903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Better Public Health </a:t>
            </a:r>
            <a:endParaRPr/>
          </a:p>
        </p:txBody>
      </p:sp>
      <p:sp>
        <p:nvSpPr>
          <p:cNvPr id="1358491184" name="TextBox 48"/>
          <p:cNvSpPr txBox="1"/>
          <p:nvPr/>
        </p:nvSpPr>
        <p:spPr bwMode="auto">
          <a:xfrm rot="0">
            <a:off x="2169212" y="4652962"/>
            <a:ext cx="264903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ts val="0"/>
              </a:spcBef>
              <a:defRPr/>
            </a:pPr>
            <a:r>
              <a:rPr lang="en-US" sz="2200" b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Cleaner Air </a:t>
            </a:r>
            <a:endParaRPr/>
          </a:p>
        </p:txBody>
      </p:sp>
      <p:sp>
        <p:nvSpPr>
          <p:cNvPr id="1102277428" name="TextBox 49"/>
          <p:cNvSpPr txBox="1"/>
          <p:nvPr/>
        </p:nvSpPr>
        <p:spPr bwMode="auto">
          <a:xfrm rot="0">
            <a:off x="2338641" y="8609409"/>
            <a:ext cx="2649032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Land Recovery</a:t>
            </a:r>
            <a:endParaRPr/>
          </a:p>
        </p:txBody>
      </p:sp>
      <p:sp>
        <p:nvSpPr>
          <p:cNvPr id="465690464" name="TextBox 50"/>
          <p:cNvSpPr txBox="1"/>
          <p:nvPr/>
        </p:nvSpPr>
        <p:spPr bwMode="auto">
          <a:xfrm rot="0">
            <a:off x="8172322" y="8609409"/>
            <a:ext cx="2649032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Employment</a:t>
            </a:r>
            <a:endParaRPr/>
          </a:p>
        </p:txBody>
      </p:sp>
      <p:sp>
        <p:nvSpPr>
          <p:cNvPr id="1508269023" name="TextBox 51"/>
          <p:cNvSpPr txBox="1"/>
          <p:nvPr/>
        </p:nvSpPr>
        <p:spPr bwMode="auto">
          <a:xfrm rot="0">
            <a:off x="13844387" y="8609409"/>
            <a:ext cx="264903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Improved City Image </a:t>
            </a:r>
            <a:endParaRPr/>
          </a:p>
        </p:txBody>
      </p:sp>
      <p:sp>
        <p:nvSpPr>
          <p:cNvPr id="1129521951" name="TextBox 52"/>
          <p:cNvSpPr txBox="1"/>
          <p:nvPr/>
        </p:nvSpPr>
        <p:spPr bwMode="auto">
          <a:xfrm rot="0">
            <a:off x="8323802" y="4662487"/>
            <a:ext cx="2346072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Safer Water &amp; Soil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B6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46543" name="Freeform 2"/>
          <p:cNvSpPr/>
          <p:nvPr/>
        </p:nvSpPr>
        <p:spPr bwMode="auto">
          <a:xfrm rot="0" flipH="0" flipV="0">
            <a:off x="901228" y="1577252"/>
            <a:ext cx="6570419" cy="8045099"/>
          </a:xfrm>
          <a:custGeom>
            <a:avLst/>
            <a:gdLst/>
            <a:ahLst/>
            <a:cxnLst/>
            <a:rect l="l" t="t" r="r" b="b"/>
            <a:pathLst>
              <a:path w="6570419" h="8045099" fill="norm" stroke="1" extrusionOk="0">
                <a:moveTo>
                  <a:pt x="0" y="0"/>
                </a:moveTo>
                <a:lnTo>
                  <a:pt x="6570419" y="0"/>
                </a:lnTo>
                <a:lnTo>
                  <a:pt x="6570419" y="8045098"/>
                </a:lnTo>
                <a:lnTo>
                  <a:pt x="0" y="8045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2946" r="0" b="-2945"/>
            </a:stretch>
          </a:blipFill>
        </p:spPr>
      </p:sp>
      <p:sp>
        <p:nvSpPr>
          <p:cNvPr id="251818960" name="Freeform 3"/>
          <p:cNvSpPr/>
          <p:nvPr/>
        </p:nvSpPr>
        <p:spPr bwMode="auto">
          <a:xfrm rot="0" flipH="0" flipV="0">
            <a:off x="8638075" y="1577252"/>
            <a:ext cx="8621225" cy="8045099"/>
          </a:xfrm>
          <a:custGeom>
            <a:avLst/>
            <a:gdLst/>
            <a:ahLst/>
            <a:cxnLst/>
            <a:rect l="l" t="t" r="r" b="b"/>
            <a:pathLst>
              <a:path w="8621225" h="8045099" fill="norm" stroke="1" extrusionOk="0">
                <a:moveTo>
                  <a:pt x="0" y="0"/>
                </a:moveTo>
                <a:lnTo>
                  <a:pt x="8621225" y="0"/>
                </a:lnTo>
                <a:lnTo>
                  <a:pt x="8621225" y="8045098"/>
                </a:lnTo>
                <a:lnTo>
                  <a:pt x="0" y="8045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-21010" r="0" b="-21870"/>
            </a:stretch>
          </a:blipFill>
        </p:spPr>
      </p:sp>
      <p:sp>
        <p:nvSpPr>
          <p:cNvPr id="580243515" name="TextBox 4"/>
          <p:cNvSpPr txBox="1"/>
          <p:nvPr/>
        </p:nvSpPr>
        <p:spPr bwMode="auto">
          <a:xfrm rot="0">
            <a:off x="-2480497" y="-23982"/>
            <a:ext cx="15445912" cy="81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8"/>
              </a:lnSpc>
              <a:spcBef>
                <a:spcPts val="0"/>
              </a:spcBef>
              <a:defRPr/>
            </a:pPr>
            <a:r>
              <a:rPr lang="en-US" sz="465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>System Architecture &amp; Tech Stack </a:t>
            </a:r>
            <a:endParaRPr/>
          </a:p>
        </p:txBody>
      </p:sp>
      <p:sp>
        <p:nvSpPr>
          <p:cNvPr id="352392330" name="TextBox 5"/>
          <p:cNvSpPr txBox="1"/>
          <p:nvPr/>
        </p:nvSpPr>
        <p:spPr bwMode="auto">
          <a:xfrm rot="0">
            <a:off x="493071" y="849312"/>
            <a:ext cx="9108131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ts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Boot-to-loop execution flow, and the stack powering each layer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81774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19314" y="430439"/>
            <a:ext cx="8305799" cy="5162549"/>
          </a:xfrm>
          <a:prstGeom prst="rect">
            <a:avLst/>
          </a:prstGeom>
        </p:spPr>
      </p:pic>
      <p:pic>
        <p:nvPicPr>
          <p:cNvPr id="10434654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354457" y="609599"/>
            <a:ext cx="7924799" cy="525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412713" name="Freeform 2"/>
          <p:cNvSpPr/>
          <p:nvPr/>
        </p:nvSpPr>
        <p:spPr bwMode="auto">
          <a:xfrm rot="0" flipH="0" flipV="0">
            <a:off x="1028700" y="1028700"/>
            <a:ext cx="499480" cy="500105"/>
          </a:xfrm>
          <a:custGeom>
            <a:avLst/>
            <a:gdLst/>
            <a:ahLst/>
            <a:cxnLst/>
            <a:rect l="l" t="t" r="r" b="b"/>
            <a:pathLst>
              <a:path w="499480" h="500105" fill="norm" stroke="1" extrusionOk="0">
                <a:moveTo>
                  <a:pt x="0" y="0"/>
                </a:moveTo>
                <a:lnTo>
                  <a:pt x="499480" y="0"/>
                </a:lnTo>
                <a:lnTo>
                  <a:pt x="499480" y="500105"/>
                </a:lnTo>
                <a:lnTo>
                  <a:pt x="0" y="500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114141832" name="Group 3"/>
          <p:cNvGrpSpPr/>
          <p:nvPr/>
        </p:nvGrpSpPr>
        <p:grpSpPr bwMode="auto">
          <a:xfrm rot="8099999">
            <a:off x="2831776" y="7375996"/>
            <a:ext cx="2264085" cy="5629202"/>
            <a:chOff x="0" y="0"/>
            <a:chExt cx="596302" cy="1482588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596302" cy="1482588"/>
            </a:xfrm>
            <a:custGeom>
              <a:avLst/>
              <a:gdLst/>
              <a:ahLst/>
              <a:cxnLst/>
              <a:rect l="l" t="t" r="r" b="b"/>
              <a:pathLst>
                <a:path w="596302" h="1482588" fill="norm" stroke="1" extrusionOk="0">
                  <a:moveTo>
                    <a:pt x="232522" y="0"/>
                  </a:moveTo>
                  <a:lnTo>
                    <a:pt x="363780" y="0"/>
                  </a:lnTo>
                  <a:cubicBezTo>
                    <a:pt x="425449" y="0"/>
                    <a:pt x="484592" y="24498"/>
                    <a:pt x="528198" y="68104"/>
                  </a:cubicBezTo>
                  <a:cubicBezTo>
                    <a:pt x="571804" y="111711"/>
                    <a:pt x="596302" y="170854"/>
                    <a:pt x="596302" y="232522"/>
                  </a:cubicBezTo>
                  <a:lnTo>
                    <a:pt x="596302" y="1250066"/>
                  </a:lnTo>
                  <a:cubicBezTo>
                    <a:pt x="596302" y="1311734"/>
                    <a:pt x="571804" y="1370877"/>
                    <a:pt x="528198" y="1414484"/>
                  </a:cubicBezTo>
                  <a:cubicBezTo>
                    <a:pt x="484592" y="1458090"/>
                    <a:pt x="425449" y="1482588"/>
                    <a:pt x="363780" y="1482588"/>
                  </a:cubicBezTo>
                  <a:lnTo>
                    <a:pt x="232522" y="1482588"/>
                  </a:lnTo>
                  <a:cubicBezTo>
                    <a:pt x="170854" y="1482588"/>
                    <a:pt x="111711" y="1458090"/>
                    <a:pt x="68104" y="1414484"/>
                  </a:cubicBezTo>
                  <a:cubicBezTo>
                    <a:pt x="24498" y="1370877"/>
                    <a:pt x="0" y="1311734"/>
                    <a:pt x="0" y="1250066"/>
                  </a:cubicBezTo>
                  <a:lnTo>
                    <a:pt x="0" y="232522"/>
                  </a:lnTo>
                  <a:cubicBezTo>
                    <a:pt x="0" y="170854"/>
                    <a:pt x="24498" y="111711"/>
                    <a:pt x="68104" y="68104"/>
                  </a:cubicBezTo>
                  <a:cubicBezTo>
                    <a:pt x="111711" y="24498"/>
                    <a:pt x="170854" y="0"/>
                    <a:pt x="232522" y="0"/>
                  </a:cubicBezTo>
                  <a:close/>
                </a:path>
              </a:pathLst>
            </a:custGeom>
            <a:solidFill>
              <a:srgbClr val="CBE6BA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596302" cy="152068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675492333" name="Group 6"/>
          <p:cNvGrpSpPr/>
          <p:nvPr/>
        </p:nvGrpSpPr>
        <p:grpSpPr bwMode="auto">
          <a:xfrm rot="8099999">
            <a:off x="12080770" y="-680939"/>
            <a:ext cx="5159772" cy="5629202"/>
            <a:chOff x="0" y="0"/>
            <a:chExt cx="1358952" cy="148258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358952" cy="1482588"/>
            </a:xfrm>
            <a:custGeom>
              <a:avLst/>
              <a:gdLst/>
              <a:ahLst/>
              <a:cxnLst/>
              <a:rect l="l" t="t" r="r" b="b"/>
              <a:pathLst>
                <a:path w="1358952" h="1482588" fill="norm" stroke="1" extrusionOk="0">
                  <a:moveTo>
                    <a:pt x="102030" y="0"/>
                  </a:moveTo>
                  <a:lnTo>
                    <a:pt x="1256923" y="0"/>
                  </a:lnTo>
                  <a:cubicBezTo>
                    <a:pt x="1313272" y="0"/>
                    <a:pt x="1358952" y="45680"/>
                    <a:pt x="1358952" y="102030"/>
                  </a:cubicBezTo>
                  <a:lnTo>
                    <a:pt x="1358952" y="1380558"/>
                  </a:lnTo>
                  <a:cubicBezTo>
                    <a:pt x="1358952" y="1436908"/>
                    <a:pt x="1313272" y="1482588"/>
                    <a:pt x="1256923" y="1482588"/>
                  </a:cubicBezTo>
                  <a:lnTo>
                    <a:pt x="102030" y="1482588"/>
                  </a:lnTo>
                  <a:cubicBezTo>
                    <a:pt x="45680" y="1482588"/>
                    <a:pt x="0" y="1436908"/>
                    <a:pt x="0" y="1380558"/>
                  </a:cubicBezTo>
                  <a:lnTo>
                    <a:pt x="0" y="102030"/>
                  </a:lnTo>
                  <a:cubicBezTo>
                    <a:pt x="0" y="45680"/>
                    <a:pt x="45680" y="0"/>
                    <a:pt x="102030" y="0"/>
                  </a:cubicBezTo>
                  <a:close/>
                </a:path>
              </a:pathLst>
            </a:custGeom>
            <a:solidFill>
              <a:srgbClr val="CBE6BA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38100"/>
              <a:ext cx="1358952" cy="152068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262834201" name="TextBox 9"/>
          <p:cNvSpPr txBox="1"/>
          <p:nvPr/>
        </p:nvSpPr>
        <p:spPr bwMode="auto">
          <a:xfrm rot="0">
            <a:off x="3017342" y="2791979"/>
            <a:ext cx="8221624" cy="469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38"/>
              </a:lnSpc>
              <a:defRPr/>
            </a:pPr>
            <a:r>
              <a:rPr lang="en-US" sz="14000">
                <a:solidFill>
                  <a:srgbClr val="191919"/>
                </a:solidFill>
                <a:latin typeface="League Spartan"/>
                <a:ea typeface="League Spartan"/>
                <a:cs typeface="League Spartan"/>
              </a:rPr>
              <a:t>THANK YOU</a:t>
            </a:r>
            <a:endParaRPr/>
          </a:p>
        </p:txBody>
      </p:sp>
      <p:grpSp>
        <p:nvGrpSpPr>
          <p:cNvPr id="1534181756" name="Group 10"/>
          <p:cNvGrpSpPr/>
          <p:nvPr/>
        </p:nvGrpSpPr>
        <p:grpSpPr bwMode="auto">
          <a:xfrm rot="2700000">
            <a:off x="-6922702" y="7626211"/>
            <a:ext cx="13276333" cy="9759690"/>
            <a:chOff x="0" y="0"/>
            <a:chExt cx="3496646" cy="2570453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3496646" cy="2570453"/>
            </a:xfrm>
            <a:custGeom>
              <a:avLst/>
              <a:gdLst/>
              <a:ahLst/>
              <a:cxnLst/>
              <a:rect l="l" t="t" r="r" b="b"/>
              <a:pathLst>
                <a:path w="3496647" h="2570453" fill="norm" stroke="1" extrusionOk="0">
                  <a:moveTo>
                    <a:pt x="58314" y="0"/>
                  </a:moveTo>
                  <a:lnTo>
                    <a:pt x="3438334" y="0"/>
                  </a:lnTo>
                  <a:cubicBezTo>
                    <a:pt x="3470539" y="0"/>
                    <a:pt x="3496647" y="26108"/>
                    <a:pt x="3496647" y="58314"/>
                  </a:cubicBezTo>
                  <a:lnTo>
                    <a:pt x="3496647" y="2512140"/>
                  </a:lnTo>
                  <a:cubicBezTo>
                    <a:pt x="3496647" y="2527605"/>
                    <a:pt x="3490504" y="2542438"/>
                    <a:pt x="3479568" y="2553374"/>
                  </a:cubicBezTo>
                  <a:cubicBezTo>
                    <a:pt x="3468632" y="2564310"/>
                    <a:pt x="3453800" y="2570453"/>
                    <a:pt x="3438334" y="2570453"/>
                  </a:cubicBezTo>
                  <a:lnTo>
                    <a:pt x="58314" y="2570453"/>
                  </a:lnTo>
                  <a:cubicBezTo>
                    <a:pt x="42848" y="2570453"/>
                    <a:pt x="28016" y="2564310"/>
                    <a:pt x="17080" y="2553374"/>
                  </a:cubicBezTo>
                  <a:cubicBezTo>
                    <a:pt x="6144" y="2542438"/>
                    <a:pt x="0" y="2527605"/>
                    <a:pt x="0" y="2512140"/>
                  </a:cubicBezTo>
                  <a:lnTo>
                    <a:pt x="0" y="58314"/>
                  </a:lnTo>
                  <a:cubicBezTo>
                    <a:pt x="0" y="42848"/>
                    <a:pt x="6144" y="28016"/>
                    <a:pt x="17080" y="17080"/>
                  </a:cubicBezTo>
                  <a:cubicBezTo>
                    <a:pt x="28016" y="6144"/>
                    <a:pt x="42848" y="0"/>
                    <a:pt x="58314" y="0"/>
                  </a:cubicBezTo>
                  <a:close/>
                </a:path>
              </a:pathLst>
            </a:custGeom>
            <a:solidFill>
              <a:srgbClr val="3B6545"/>
            </a:solidFill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0" y="-38100"/>
              <a:ext cx="3496646" cy="26085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  <a:defRPr/>
              </a:pPr>
              <a:endParaRPr/>
            </a:p>
          </p:txBody>
        </p:sp>
      </p:grpSp>
      <p:grpSp>
        <p:nvGrpSpPr>
          <p:cNvPr id="1105409986" name="Group 13"/>
          <p:cNvGrpSpPr/>
          <p:nvPr/>
        </p:nvGrpSpPr>
        <p:grpSpPr bwMode="auto">
          <a:xfrm rot="2700000">
            <a:off x="14732778" y="-2843877"/>
            <a:ext cx="5411798" cy="9759690"/>
            <a:chOff x="0" y="0"/>
            <a:chExt cx="1425329" cy="2570453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425329" cy="2570453"/>
            </a:xfrm>
            <a:custGeom>
              <a:avLst/>
              <a:gdLst/>
              <a:ahLst/>
              <a:cxnLst/>
              <a:rect l="l" t="t" r="r" b="b"/>
              <a:pathLst>
                <a:path w="1425329" h="2570453" fill="norm" stroke="1" extrusionOk="0">
                  <a:moveTo>
                    <a:pt x="143056" y="0"/>
                  </a:moveTo>
                  <a:lnTo>
                    <a:pt x="1282273" y="0"/>
                  </a:lnTo>
                  <a:cubicBezTo>
                    <a:pt x="1361281" y="0"/>
                    <a:pt x="1425329" y="64049"/>
                    <a:pt x="1425329" y="143056"/>
                  </a:cubicBezTo>
                  <a:lnTo>
                    <a:pt x="1425329" y="2427397"/>
                  </a:lnTo>
                  <a:cubicBezTo>
                    <a:pt x="1425329" y="2506405"/>
                    <a:pt x="1361281" y="2570453"/>
                    <a:pt x="1282273" y="2570453"/>
                  </a:cubicBezTo>
                  <a:lnTo>
                    <a:pt x="143056" y="2570453"/>
                  </a:lnTo>
                  <a:cubicBezTo>
                    <a:pt x="64049" y="2570453"/>
                    <a:pt x="0" y="2506405"/>
                    <a:pt x="0" y="2427397"/>
                  </a:cubicBezTo>
                  <a:lnTo>
                    <a:pt x="0" y="143056"/>
                  </a:lnTo>
                  <a:cubicBezTo>
                    <a:pt x="0" y="64049"/>
                    <a:pt x="64049" y="0"/>
                    <a:pt x="143056" y="0"/>
                  </a:cubicBezTo>
                  <a:close/>
                </a:path>
              </a:pathLst>
            </a:custGeom>
            <a:solidFill>
              <a:srgbClr val="0B3724"/>
            </a:solid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38100"/>
              <a:ext cx="1425329" cy="26085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  <a:defRPr/>
              </a:pPr>
              <a:endParaRPr/>
            </a:p>
          </p:txBody>
        </p:sp>
      </p:grpSp>
      <p:grpSp>
        <p:nvGrpSpPr>
          <p:cNvPr id="798392167" name="Group 16"/>
          <p:cNvGrpSpPr/>
          <p:nvPr/>
        </p:nvGrpSpPr>
        <p:grpSpPr bwMode="auto">
          <a:xfrm rot="0">
            <a:off x="10783833" y="1942711"/>
            <a:ext cx="5645563" cy="564556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31809" y="31809"/>
              <a:ext cx="749181" cy="749181"/>
            </a:xfrm>
            <a:custGeom>
              <a:avLst/>
              <a:gdLst/>
              <a:ahLst/>
              <a:cxnLst/>
              <a:rect l="l" t="t" r="r" b="b"/>
              <a:pathLst>
                <a:path w="749181" h="749181" fill="norm" stroke="1" extrusionOk="0">
                  <a:moveTo>
                    <a:pt x="428893" y="22493"/>
                  </a:moveTo>
                  <a:lnTo>
                    <a:pt x="726689" y="320289"/>
                  </a:lnTo>
                  <a:cubicBezTo>
                    <a:pt x="741091" y="334691"/>
                    <a:pt x="749182" y="354224"/>
                    <a:pt x="749182" y="374591"/>
                  </a:cubicBezTo>
                  <a:cubicBezTo>
                    <a:pt x="749182" y="394958"/>
                    <a:pt x="741091" y="414491"/>
                    <a:pt x="726689" y="428893"/>
                  </a:cubicBezTo>
                  <a:lnTo>
                    <a:pt x="428893" y="726689"/>
                  </a:lnTo>
                  <a:cubicBezTo>
                    <a:pt x="414491" y="741091"/>
                    <a:pt x="394958" y="749182"/>
                    <a:pt x="374591" y="749182"/>
                  </a:cubicBezTo>
                  <a:cubicBezTo>
                    <a:pt x="354224" y="749182"/>
                    <a:pt x="334691" y="741091"/>
                    <a:pt x="320289" y="726689"/>
                  </a:cubicBezTo>
                  <a:lnTo>
                    <a:pt x="22493" y="428893"/>
                  </a:lnTo>
                  <a:cubicBezTo>
                    <a:pt x="8091" y="414491"/>
                    <a:pt x="0" y="394958"/>
                    <a:pt x="0" y="374591"/>
                  </a:cubicBezTo>
                  <a:cubicBezTo>
                    <a:pt x="0" y="354224"/>
                    <a:pt x="8091" y="334691"/>
                    <a:pt x="22493" y="320289"/>
                  </a:cubicBezTo>
                  <a:lnTo>
                    <a:pt x="320289" y="22493"/>
                  </a:lnTo>
                  <a:cubicBezTo>
                    <a:pt x="334691" y="8091"/>
                    <a:pt x="354224" y="0"/>
                    <a:pt x="374591" y="0"/>
                  </a:cubicBezTo>
                  <a:cubicBezTo>
                    <a:pt x="394958" y="0"/>
                    <a:pt x="414491" y="8091"/>
                    <a:pt x="428893" y="22493"/>
                  </a:cubicBezTo>
                  <a:close/>
                </a:path>
              </a:pathLst>
            </a:custGeom>
            <a:blipFill rotWithShape="1">
              <a:blip r:embed="rId5"/>
              <a:stretch>
                <a:fillRect l="-39285" t="0" r="-39285" b="0"/>
              </a:stretch>
            </a:blipFill>
          </p:spPr>
        </p:sp>
      </p:grpSp>
      <p:sp>
        <p:nvSpPr>
          <p:cNvPr id="862899165" name="Freeform 18"/>
          <p:cNvSpPr/>
          <p:nvPr/>
        </p:nvSpPr>
        <p:spPr bwMode="auto">
          <a:xfrm rot="0" flipH="0" flipV="0">
            <a:off x="16241156" y="339153"/>
            <a:ext cx="3207119" cy="3207119"/>
          </a:xfrm>
          <a:custGeom>
            <a:avLst/>
            <a:gdLst/>
            <a:ahLst/>
            <a:cxnLst/>
            <a:rect l="l" t="t" r="r" b="b"/>
            <a:pathLst>
              <a:path w="3207119" h="3207119" fill="norm" stroke="1" extrusionOk="0">
                <a:moveTo>
                  <a:pt x="0" y="0"/>
                </a:moveTo>
                <a:lnTo>
                  <a:pt x="3207119" y="0"/>
                </a:lnTo>
                <a:lnTo>
                  <a:pt x="3207119" y="3207118"/>
                </a:lnTo>
                <a:lnTo>
                  <a:pt x="0" y="32071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363257701" name="TextBox 19"/>
          <p:cNvSpPr txBox="1"/>
          <p:nvPr/>
        </p:nvSpPr>
        <p:spPr bwMode="auto">
          <a:xfrm rot="0">
            <a:off x="1732215" y="1106335"/>
            <a:ext cx="2016901" cy="30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lang="en-US" sz="1800" b="1">
                <a:solidFill>
                  <a:srgbClr val="0B3724"/>
                </a:solidFill>
                <a:latin typeface="Inter 1 Bold"/>
                <a:ea typeface="Inter 1 Bold"/>
                <a:cs typeface="Inter 1 Bold"/>
              </a:rPr>
              <a:t>Gourav &amp; team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sort ai : an ai assisted waste segregation and recycling system for landfill reduction .</dc:title>
  <dc:identifier>DAHU98mnRyg</dc:identifier>
  <cp:lastModifiedBy/>
  <cp:revision>2</cp:revision>
  <dcterms:created xsi:type="dcterms:W3CDTF">2006-08-16T00:00:00Z</dcterms:created>
  <dcterms:modified xsi:type="dcterms:W3CDTF">2026-10-05T17:31:26Z</dcterms:modified>
</cp:coreProperties>
</file>